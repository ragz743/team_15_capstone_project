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Lst>
  <p:sldSz cy="5143500" cx="9144000"/>
  <p:notesSz cx="6858000" cy="9144000"/>
  <p:embeddedFontLst>
    <p:embeddedFont>
      <p:font typeface="Average"/>
      <p:regular r:id="rId12"/>
    </p:embeddedFont>
    <p:embeddedFont>
      <p:font typeface="Oswald"/>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Gavin Travis"/>
  <p:cmAuthor clrIdx="1" id="1" initials="" lastIdx="2" name="Sairaghav Gubb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Oswald-regular.fntdata"/><Relationship Id="rId12" Type="http://schemas.openxmlformats.org/officeDocument/2006/relationships/font" Target="fonts/Averag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4" Type="http://schemas.openxmlformats.org/officeDocument/2006/relationships/font" Target="fonts/Oswa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08T18:19:01.794">
    <p:pos x="6000" y="0"/>
    <p:text>I didnt get a chance to look at it enough to have any good questions, Idk if anyone else had tried either. I vote we wait until we did into it more w/ RAG stuff. Some of the answers might be in the handover docs too.</p:text>
  </p:cm>
  <p:cm authorId="0" idx="2" dt="2026-04-08T18:19:01.794">
    <p:pos x="6000" y="0"/>
    <p:text>I somehow messed up selecting the text for this comment, but it was supposed to target the question about the AgWeatherNet DB question slide</p:text>
  </p:cm>
  <p:cm authorId="0" idx="3" dt="2026-04-08T19:18:24.282">
    <p:pos x="196" y="725"/>
    <p:text>Not sure who added this, but can you please elaborate? I am not very sure what this is trying to figure out, if the question is for Jaitun she has only had some screenshots to look at and no one can make an informed decision from that. If the question is for our group I dont think anyone but Danbi and I have tried running an actual model and the models have not been fine-tuned at all or been asked any test/benchmarking questions.
As the question is right now, I dont think its worth asking. Maybe if you were to make the question more specific? But I dont want to just add stuff to make the slide look fuller.</p:text>
  </p:cm>
  <p:cm authorId="1" idx="1" dt="2026-04-08T19:16:47.120">
    <p:pos x="196" y="725"/>
    <p:text>It was me who added that question. I understand that Jaitun wouldn't make a decision based on the screenshots provided, but it would allow Jaitun to ask any further questions. In other words, it's more of a leading question.</p:text>
  </p:cm>
  <p:cm authorId="0" idx="4" dt="2026-04-08T19:15:59.108">
    <p:pos x="196" y="725"/>
    <p:text>I can't demo the model from my laptop b/c any models that are able to run on my laptop do not work and my desktop does not have camera/mic setup either.
If you would like to get it setup and do the demo part that sounds good to me! Just know that I havent tried many models and the only one which has been able to answer a questions has been 9B params and took over two minutes to tell me a joke.</p:text>
  </p:cm>
  <p:cm authorId="1" idx="2" dt="2026-04-08T19:17:42.084">
    <p:pos x="196" y="725"/>
    <p:text>So instead of demoing the model, this question is just for further questions from Jaitun.
1 total reaction
Gavin Travis reacted with 👍 at 2026-04-08 19:18 PM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6e05e8e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6e05e8e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86e05e8e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86e05e8e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6ee6eeb21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86ee6eeb21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6ee6eeb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86ee6eeb2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Client Meeting 4/8/2026 </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System Architecture Discussion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1836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Prototype File Changes</a:t>
            </a:r>
            <a:endParaRPr sz="2500"/>
          </a:p>
        </p:txBody>
      </p:sp>
      <p:sp>
        <p:nvSpPr>
          <p:cNvPr id="66" name="Google Shape;66;p14"/>
          <p:cNvSpPr txBox="1"/>
          <p:nvPr>
            <p:ph idx="1" type="body"/>
          </p:nvPr>
        </p:nvSpPr>
        <p:spPr>
          <a:xfrm>
            <a:off x="311700" y="756350"/>
            <a:ext cx="8520600" cy="3416400"/>
          </a:xfrm>
          <a:prstGeom prst="rect">
            <a:avLst/>
          </a:prstGeom>
        </p:spPr>
        <p:txBody>
          <a:bodyPr anchorCtr="0" anchor="t" bIns="91425" lIns="91425" spcFirstLastPara="1" rIns="91425" wrap="square" tIns="91425">
            <a:normAutofit/>
          </a:bodyPr>
          <a:lstStyle/>
          <a:p>
            <a:pPr indent="-317500" lvl="0" marL="457200" rtl="0" algn="l">
              <a:lnSpc>
                <a:spcPct val="100000"/>
              </a:lnSpc>
              <a:spcBef>
                <a:spcPts val="0"/>
              </a:spcBef>
              <a:spcAft>
                <a:spcPts val="0"/>
              </a:spcAft>
              <a:buClr>
                <a:schemeClr val="dk1"/>
              </a:buClr>
              <a:buSzPts val="1400"/>
              <a:buChar char="•"/>
            </a:pPr>
            <a:r>
              <a:rPr lang="en" sz="1400">
                <a:solidFill>
                  <a:schemeClr val="dk1"/>
                </a:solidFill>
              </a:rPr>
              <a:t>Added project level dependencies for MySQL connection handling and pytest configuration</a:t>
            </a:r>
            <a:endParaRPr sz="1400">
              <a:solidFill>
                <a:schemeClr val="dk1"/>
              </a:solidFill>
            </a:endParaRPr>
          </a:p>
          <a:p>
            <a:pPr indent="-317500" lvl="0" marL="457200" rtl="0" algn="l">
              <a:lnSpc>
                <a:spcPct val="100000"/>
              </a:lnSpc>
              <a:spcBef>
                <a:spcPts val="1000"/>
              </a:spcBef>
              <a:spcAft>
                <a:spcPts val="0"/>
              </a:spcAft>
              <a:buClr>
                <a:schemeClr val="dk1"/>
              </a:buClr>
              <a:buSzPts val="1400"/>
              <a:buChar char="•"/>
            </a:pPr>
            <a:r>
              <a:rPr lang="en" sz="1400">
                <a:solidFill>
                  <a:schemeClr val="dk1"/>
                </a:solidFill>
              </a:rPr>
              <a:t>Introduced a shared base class to centralize AWN database connection logic</a:t>
            </a:r>
            <a:endParaRPr sz="1400">
              <a:solidFill>
                <a:schemeClr val="dk1"/>
              </a:solidFill>
            </a:endParaRPr>
          </a:p>
          <a:p>
            <a:pPr indent="-317500" lvl="0" marL="457200" rtl="0" algn="l">
              <a:lnSpc>
                <a:spcPct val="100000"/>
              </a:lnSpc>
              <a:spcBef>
                <a:spcPts val="1000"/>
              </a:spcBef>
              <a:spcAft>
                <a:spcPts val="0"/>
              </a:spcAft>
              <a:buClr>
                <a:schemeClr val="dk1"/>
              </a:buClr>
              <a:buSzPts val="1400"/>
              <a:buChar char="•"/>
            </a:pPr>
            <a:r>
              <a:rPr lang="en" sz="1400">
                <a:solidFill>
                  <a:schemeClr val="dk1"/>
                </a:solidFill>
              </a:rPr>
              <a:t>Created separate connectors for the main, daily, and forecast databases</a:t>
            </a:r>
            <a:endParaRPr sz="1400">
              <a:solidFill>
                <a:schemeClr val="dk1"/>
              </a:solidFill>
            </a:endParaRPr>
          </a:p>
          <a:p>
            <a:pPr indent="-317500" lvl="0" marL="457200" rtl="0" algn="l">
              <a:lnSpc>
                <a:spcPct val="100000"/>
              </a:lnSpc>
              <a:spcBef>
                <a:spcPts val="1000"/>
              </a:spcBef>
              <a:spcAft>
                <a:spcPts val="0"/>
              </a:spcAft>
              <a:buClr>
                <a:schemeClr val="dk1"/>
              </a:buClr>
              <a:buSzPts val="1400"/>
              <a:buChar char="•"/>
            </a:pPr>
            <a:r>
              <a:rPr lang="en" sz="1400">
                <a:solidFill>
                  <a:schemeClr val="dk1"/>
                </a:solidFill>
              </a:rPr>
              <a:t>Established a cleaner database access layer that supports future chatbot integration</a:t>
            </a:r>
            <a:endParaRPr sz="1400">
              <a:solidFill>
                <a:schemeClr val="dk1"/>
              </a:solidFill>
            </a:endParaRPr>
          </a:p>
          <a:p>
            <a:pPr indent="-317500" lvl="0" marL="457200" rtl="0" algn="l">
              <a:lnSpc>
                <a:spcPct val="100000"/>
              </a:lnSpc>
              <a:spcBef>
                <a:spcPts val="1000"/>
              </a:spcBef>
              <a:spcAft>
                <a:spcPts val="1000"/>
              </a:spcAft>
              <a:buClr>
                <a:schemeClr val="dk1"/>
              </a:buClr>
              <a:buSzPts val="1400"/>
              <a:buChar char="•"/>
            </a:pPr>
            <a:r>
              <a:rPr lang="en" sz="1400">
                <a:solidFill>
                  <a:schemeClr val="dk1"/>
                </a:solidFill>
              </a:rPr>
              <a:t>Containerized project services with Docker compose (pgvector DB, chatbot model, embedding model)</a:t>
            </a:r>
            <a:endParaRPr sz="1400">
              <a:solidFill>
                <a:schemeClr val="dk1"/>
              </a:solidFill>
            </a:endParaRPr>
          </a:p>
        </p:txBody>
      </p:sp>
      <p:pic>
        <p:nvPicPr>
          <p:cNvPr id="67" name="Google Shape;67;p14"/>
          <p:cNvPicPr preferRelativeResize="0"/>
          <p:nvPr/>
        </p:nvPicPr>
        <p:blipFill>
          <a:blip r:embed="rId3">
            <a:alphaModFix/>
          </a:blip>
          <a:stretch>
            <a:fillRect/>
          </a:stretch>
        </p:blipFill>
        <p:spPr>
          <a:xfrm>
            <a:off x="-1" y="2571749"/>
            <a:ext cx="3589626" cy="1548725"/>
          </a:xfrm>
          <a:prstGeom prst="rect">
            <a:avLst/>
          </a:prstGeom>
          <a:noFill/>
          <a:ln>
            <a:noFill/>
          </a:ln>
        </p:spPr>
      </p:pic>
      <p:pic>
        <p:nvPicPr>
          <p:cNvPr id="68" name="Google Shape;68;p14"/>
          <p:cNvPicPr preferRelativeResize="0"/>
          <p:nvPr/>
        </p:nvPicPr>
        <p:blipFill rotWithShape="1">
          <a:blip r:embed="rId4">
            <a:alphaModFix/>
          </a:blip>
          <a:srcRect b="0" l="0" r="40405" t="0"/>
          <a:stretch/>
        </p:blipFill>
        <p:spPr>
          <a:xfrm>
            <a:off x="3290324" y="3877075"/>
            <a:ext cx="3388310" cy="1266425"/>
          </a:xfrm>
          <a:prstGeom prst="rect">
            <a:avLst/>
          </a:prstGeom>
          <a:noFill/>
          <a:ln>
            <a:noFill/>
          </a:ln>
        </p:spPr>
      </p:pic>
      <p:pic>
        <p:nvPicPr>
          <p:cNvPr id="69" name="Google Shape;69;p14"/>
          <p:cNvPicPr preferRelativeResize="0"/>
          <p:nvPr/>
        </p:nvPicPr>
        <p:blipFill>
          <a:blip r:embed="rId5">
            <a:alphaModFix/>
          </a:blip>
          <a:stretch>
            <a:fillRect/>
          </a:stretch>
        </p:blipFill>
        <p:spPr>
          <a:xfrm>
            <a:off x="5107907" y="2673175"/>
            <a:ext cx="4036094" cy="120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Prototype architecture right now</a:t>
            </a:r>
            <a:endParaRPr sz="2500"/>
          </a:p>
        </p:txBody>
      </p:sp>
      <p:sp>
        <p:nvSpPr>
          <p:cNvPr id="75" name="Google Shape;75;p15"/>
          <p:cNvSpPr txBox="1"/>
          <p:nvPr>
            <p:ph idx="1" type="body"/>
          </p:nvPr>
        </p:nvSpPr>
        <p:spPr>
          <a:xfrm>
            <a:off x="0" y="1076575"/>
            <a:ext cx="5070000" cy="3416400"/>
          </a:xfrm>
          <a:prstGeom prst="rect">
            <a:avLst/>
          </a:prstGeom>
          <a:ln>
            <a:noFill/>
          </a:ln>
        </p:spPr>
        <p:txBody>
          <a:bodyPr anchorCtr="0" anchor="t" bIns="91425" lIns="91425" spcFirstLastPara="1" rIns="91425" wrap="square" tIns="91425">
            <a:normAutofit/>
          </a:bodyPr>
          <a:lstStyle/>
          <a:p>
            <a:pPr indent="-318770" lvl="0" marL="457200" rtl="0" algn="l">
              <a:lnSpc>
                <a:spcPct val="100000"/>
              </a:lnSpc>
              <a:spcBef>
                <a:spcPts val="0"/>
              </a:spcBef>
              <a:spcAft>
                <a:spcPts val="0"/>
              </a:spcAft>
              <a:buClr>
                <a:schemeClr val="dk1"/>
              </a:buClr>
              <a:buSzPts val="1420"/>
              <a:buChar char="•"/>
            </a:pPr>
            <a:r>
              <a:rPr lang="en" sz="1420">
                <a:solidFill>
                  <a:schemeClr val="dk1"/>
                </a:solidFill>
              </a:rPr>
              <a:t>Separate connection classes create a cleaner structure for working with multiple AWN databases</a:t>
            </a:r>
            <a:endParaRPr sz="1420">
              <a:solidFill>
                <a:schemeClr val="dk1"/>
              </a:solidFill>
            </a:endParaRPr>
          </a:p>
          <a:p>
            <a:pPr indent="-318770" lvl="0" marL="457200" rtl="0" algn="l">
              <a:lnSpc>
                <a:spcPct val="100000"/>
              </a:lnSpc>
              <a:spcBef>
                <a:spcPts val="1000"/>
              </a:spcBef>
              <a:spcAft>
                <a:spcPts val="0"/>
              </a:spcAft>
              <a:buClr>
                <a:schemeClr val="dk1"/>
              </a:buClr>
              <a:buSzPts val="1420"/>
              <a:buChar char="•"/>
            </a:pPr>
            <a:r>
              <a:rPr lang="en" sz="1420">
                <a:solidFill>
                  <a:schemeClr val="dk1"/>
                </a:solidFill>
              </a:rPr>
              <a:t>A shared base class centralizes connection setup and simple query logic, which should reduce duplication and simplify maintenance</a:t>
            </a:r>
            <a:endParaRPr sz="1420">
              <a:solidFill>
                <a:schemeClr val="dk1"/>
              </a:solidFill>
            </a:endParaRPr>
          </a:p>
          <a:p>
            <a:pPr indent="-318770" lvl="0" marL="457200" rtl="0" algn="l">
              <a:lnSpc>
                <a:spcPct val="100000"/>
              </a:lnSpc>
              <a:spcBef>
                <a:spcPts val="1000"/>
              </a:spcBef>
              <a:spcAft>
                <a:spcPts val="1000"/>
              </a:spcAft>
              <a:buClr>
                <a:schemeClr val="dk1"/>
              </a:buClr>
              <a:buSzPts val="1420"/>
              <a:buChar char="•"/>
            </a:pPr>
            <a:r>
              <a:rPr lang="en" sz="1420">
                <a:solidFill>
                  <a:schemeClr val="dk1"/>
                </a:solidFill>
              </a:rPr>
              <a:t>This connection layer provides the foundation for later chatbot features</a:t>
            </a:r>
            <a:endParaRPr sz="1900">
              <a:solidFill>
                <a:schemeClr val="dk1"/>
              </a:solidFill>
            </a:endParaRPr>
          </a:p>
        </p:txBody>
      </p:sp>
      <p:pic>
        <p:nvPicPr>
          <p:cNvPr id="76" name="Google Shape;76;p15"/>
          <p:cNvPicPr preferRelativeResize="0"/>
          <p:nvPr/>
        </p:nvPicPr>
        <p:blipFill>
          <a:blip r:embed="rId3">
            <a:alphaModFix/>
          </a:blip>
          <a:stretch>
            <a:fillRect/>
          </a:stretch>
        </p:blipFill>
        <p:spPr>
          <a:xfrm>
            <a:off x="3865875" y="3597175"/>
            <a:ext cx="4966426" cy="1430750"/>
          </a:xfrm>
          <a:prstGeom prst="rect">
            <a:avLst/>
          </a:prstGeom>
          <a:noFill/>
          <a:ln>
            <a:noFill/>
          </a:ln>
        </p:spPr>
      </p:pic>
      <p:pic>
        <p:nvPicPr>
          <p:cNvPr id="77" name="Google Shape;77;p15"/>
          <p:cNvPicPr preferRelativeResize="0"/>
          <p:nvPr/>
        </p:nvPicPr>
        <p:blipFill>
          <a:blip r:embed="rId4">
            <a:alphaModFix/>
          </a:blip>
          <a:stretch>
            <a:fillRect/>
          </a:stretch>
        </p:blipFill>
        <p:spPr>
          <a:xfrm>
            <a:off x="5070000" y="237325"/>
            <a:ext cx="4073999" cy="33598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Prototype Summary</a:t>
            </a:r>
            <a:endParaRPr sz="2500"/>
          </a:p>
        </p:txBody>
      </p:sp>
      <p:sp>
        <p:nvSpPr>
          <p:cNvPr id="83" name="Google Shape;8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Clr>
                <a:schemeClr val="dk1"/>
              </a:buClr>
              <a:buSzPts val="1400"/>
              <a:buChar char="●"/>
            </a:pPr>
            <a:r>
              <a:rPr lang="en" sz="1400">
                <a:solidFill>
                  <a:schemeClr val="dk1"/>
                </a:solidFill>
              </a:rPr>
              <a:t>prototype work is now in the codebase</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A shared database connection foundation has been implemented for AWN data access</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The codebase now separates main, daily, and forecast database connectivity</a:t>
            </a:r>
            <a:endParaRPr sz="1400">
              <a:solidFill>
                <a:schemeClr val="dk1"/>
              </a:solidFill>
            </a:endParaRPr>
          </a:p>
          <a:p>
            <a:pPr indent="-317500" lvl="0" marL="457200" rtl="0" algn="l">
              <a:lnSpc>
                <a:spcPct val="150000"/>
              </a:lnSpc>
              <a:spcBef>
                <a:spcPts val="0"/>
              </a:spcBef>
              <a:spcAft>
                <a:spcPts val="0"/>
              </a:spcAft>
              <a:buClr>
                <a:schemeClr val="dk1"/>
              </a:buClr>
              <a:buSzPts val="1400"/>
              <a:buChar char="●"/>
            </a:pPr>
            <a:r>
              <a:rPr lang="en" sz="1400">
                <a:solidFill>
                  <a:schemeClr val="dk1"/>
                </a:solidFill>
              </a:rPr>
              <a:t>Initial testing and deployment groundwork have been set up</a:t>
            </a:r>
            <a:endParaRPr sz="14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Questions</a:t>
            </a:r>
            <a:endParaRPr/>
          </a:p>
        </p:txBody>
      </p:sp>
      <p:sp>
        <p:nvSpPr>
          <p:cNvPr id="89" name="Google Shape;89;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Is it possible to get access for dev sandbox environment for loading/testing models?</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Current issues</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Models that can be run locally are limited by team’s personal hardware</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Very slow startup and run times depending on system resources (GPU, CPU)</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Alternative solutions</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Team uses 3rd party API for </a:t>
            </a:r>
            <a:r>
              <a:rPr lang="en" sz="1800">
                <a:solidFill>
                  <a:schemeClr val="dk1"/>
                </a:solidFill>
              </a:rPr>
              <a:t>local development, switches to Docker for testing and production</a:t>
            </a:r>
            <a:endParaRPr sz="1800">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Thoughts on the h</a:t>
            </a:r>
            <a:r>
              <a:rPr lang="en">
                <a:solidFill>
                  <a:schemeClr val="dk1"/>
                </a:solidFill>
              </a:rPr>
              <a:t>osted LLM?</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