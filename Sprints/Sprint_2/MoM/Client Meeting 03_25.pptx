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ighteous"/>
      <p:regular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Gavin Travi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Righteous-regular.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3-25T17:28:52.184">
    <p:pos x="196" y="280"/>
    <p:text>Leaving a note here, I am assuming you are using it for your comparisons but we should mention/credit the hugging face embedding model benchmark leaderboard. It will add credibility to our decision making process!</p:text>
  </p:cm>
  <p:cm authorId="0" idx="2" dt="2026-03-25T17:28:52.184">
    <p:pos x="196" y="280"/>
    <p:text>https://huggingface.co/spaces/mteb/leaderboard</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3-25T17:28:52.184">
    <p:pos x="231" y="120"/>
    <p:text>Leaving a note here, I am assuming you are using it for your comparisons but we should mention/credit the hugging face embedding model benchmark leaderboard. It will add credibility to our decision making process!</p:text>
  </p:cm>
  <p:cm authorId="0" idx="4" dt="2026-03-25T17:28:52.184">
    <p:pos x="231" y="120"/>
    <p:text>https://huggingface.co/spaces/mteb/leaderboard</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3-25T17:24:18.388">
    <p:pos x="237" y="271"/>
    <p:text>Could you also please add a piece to each model about hosting options? Some of these are able to be self-hosted which is the difference to not pay a subscription based on usage which is an important design decision!!
please double check, but I believe all of these are able to be self-hosted (maybe not Gemma3?)
Anyways - this is critical!!!</p:text>
  </p:cm>
  <p:cm authorId="0" idx="6" dt="2026-03-25T17:24:18.388">
    <p:pos x="237" y="271"/>
    <p:text>ah just noticed the previous slide that looks like it covers self-hosting.
Feel free to ignore the above comment, or add it in here to be safe. As long as we mention these are all self-hostable that is prob fine - its just not totally clear as is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Today we’ll walk through our proposed system architecture for the AgWeatherNet AI chatbot</a:t>
            </a:r>
            <a:endParaRPr/>
          </a:p>
          <a:p>
            <a:pPr indent="-298450" lvl="0" marL="457200" rtl="0" algn="l">
              <a:spcBef>
                <a:spcPts val="0"/>
              </a:spcBef>
              <a:spcAft>
                <a:spcPts val="0"/>
              </a:spcAft>
              <a:buSzPts val="1100"/>
              <a:buChar char="-"/>
            </a:pPr>
            <a:r>
              <a:rPr lang="en"/>
              <a:t>We’ll focus on how user queries flow through the system and how we can ensure accuracy and performance</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27765e012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27765e012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a4f70408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a4f70408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27765e01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d27765e01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27765e012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27765e012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27765e01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27765e01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27765e012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27765e012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27765e012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27765e012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27765e01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27765e01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331000e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d331000e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331000e0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331000e0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331000e0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d331000e0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d331000e0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d331000e0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27765e012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d27765e012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aclanthology.org/2025.acl-long.1304/" TargetMode="External"/><Relationship Id="rId4" Type="http://schemas.openxmlformats.org/officeDocument/2006/relationships/hyperlink" Target="https://huggingface.co/docs/leaderboards/en/open_llm_leaderboard/archive" TargetMode="External"/><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huggingface.co/spaces/NyxKrage/LLM-Model-VRAM-Calculator" TargetMode="External"/><Relationship Id="rId4" Type="http://schemas.openxmlformats.org/officeDocument/2006/relationships/hyperlink" Target="https://docs.docker.com/engine/containers/resource_constraints/#limit-a-containers-access-to-memory" TargetMode="External"/><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Righteous"/>
                <a:ea typeface="Righteous"/>
                <a:cs typeface="Righteous"/>
                <a:sym typeface="Righteous"/>
              </a:rPr>
              <a:t>Client Meeting 3/25/2026</a:t>
            </a:r>
            <a:r>
              <a:rPr lang="en"/>
              <a:t>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latin typeface="Righteous"/>
                <a:ea typeface="Righteous"/>
                <a:cs typeface="Righteous"/>
                <a:sym typeface="Righteous"/>
              </a:rPr>
              <a:t>System Architecture Discussion</a:t>
            </a:r>
            <a:endParaRPr>
              <a:latin typeface="Righteous"/>
              <a:ea typeface="Righteous"/>
              <a:cs typeface="Righteous"/>
              <a:sym typeface="Righteou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Problem Overview</a:t>
            </a:r>
            <a:endParaRPr>
              <a:latin typeface="Righteous"/>
              <a:ea typeface="Righteous"/>
              <a:cs typeface="Righteous"/>
              <a:sym typeface="Righteou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1E2430"/>
              </a:buClr>
              <a:buSzPts val="1800"/>
              <a:buFont typeface="Arial"/>
              <a:buNone/>
            </a:pPr>
            <a:r>
              <a:rPr b="1" lang="en">
                <a:solidFill>
                  <a:srgbClr val="1E2430"/>
                </a:solidFill>
              </a:rPr>
              <a:t>The problem we are solving:</a:t>
            </a:r>
            <a:endParaRPr>
              <a:solidFill>
                <a:schemeClr val="dk1"/>
              </a:solidFill>
            </a:endParaRPr>
          </a:p>
          <a:p>
            <a:pPr indent="-342900" lvl="0" marL="457200" rtl="0" algn="l">
              <a:lnSpc>
                <a:spcPct val="100000"/>
              </a:lnSpc>
              <a:spcBef>
                <a:spcPts val="0"/>
              </a:spcBef>
              <a:spcAft>
                <a:spcPts val="0"/>
              </a:spcAft>
              <a:buSzPts val="1800"/>
              <a:buChar char="●"/>
            </a:pPr>
            <a:r>
              <a:rPr lang="en" sz="1700">
                <a:solidFill>
                  <a:srgbClr val="1E2430"/>
                </a:solidFill>
              </a:rPr>
              <a:t>AgWeatherNet provides valuable weather data, but it requires technical navigation and can be difficult for non-technical users to query data</a:t>
            </a:r>
            <a:endParaRPr sz="1700">
              <a:solidFill>
                <a:srgbClr val="1E2430"/>
              </a:solidFill>
            </a:endParaRPr>
          </a:p>
          <a:p>
            <a:pPr indent="-336550" lvl="0" marL="457200" rtl="0" algn="l">
              <a:lnSpc>
                <a:spcPct val="100000"/>
              </a:lnSpc>
              <a:spcBef>
                <a:spcPts val="0"/>
              </a:spcBef>
              <a:spcAft>
                <a:spcPts val="0"/>
              </a:spcAft>
              <a:buClr>
                <a:srgbClr val="1E2430"/>
              </a:buClr>
              <a:buSzPts val="1700"/>
              <a:buChar char="●"/>
            </a:pPr>
            <a:r>
              <a:rPr lang="en" sz="1700">
                <a:solidFill>
                  <a:srgbClr val="1E2430"/>
                </a:solidFill>
              </a:rPr>
              <a:t>Users (farmers, researchers) need quick insights and natural language to access data</a:t>
            </a:r>
            <a:endParaRPr sz="1700">
              <a:solidFill>
                <a:schemeClr val="dk1"/>
              </a:solidFill>
            </a:endParaRPr>
          </a:p>
          <a:p>
            <a:pPr indent="-336550" lvl="0" marL="457200" rtl="0" algn="l">
              <a:lnSpc>
                <a:spcPct val="100000"/>
              </a:lnSpc>
              <a:spcBef>
                <a:spcPts val="0"/>
              </a:spcBef>
              <a:spcAft>
                <a:spcPts val="0"/>
              </a:spcAft>
              <a:buClr>
                <a:srgbClr val="1E2430"/>
              </a:buClr>
              <a:buSzPts val="1700"/>
              <a:buChar char="●"/>
            </a:pPr>
            <a:r>
              <a:rPr lang="en" sz="1700">
                <a:solidFill>
                  <a:srgbClr val="1E2430"/>
                </a:solidFill>
              </a:rPr>
              <a:t>The AgWeatherNet system lacks a conversational interface and intelligent query handling</a:t>
            </a:r>
            <a:endParaRPr sz="1700">
              <a:solidFill>
                <a:srgbClr val="1E2430"/>
              </a:solidFill>
            </a:endParaRPr>
          </a:p>
          <a:p>
            <a:pPr indent="0" lvl="0" marL="0" rtl="0" algn="l">
              <a:lnSpc>
                <a:spcPct val="100000"/>
              </a:lnSpc>
              <a:spcBef>
                <a:spcPts val="0"/>
              </a:spcBef>
              <a:spcAft>
                <a:spcPts val="0"/>
              </a:spcAft>
              <a:buNone/>
            </a:pPr>
            <a:r>
              <a:rPr b="1" lang="en">
                <a:solidFill>
                  <a:srgbClr val="1E2430"/>
                </a:solidFill>
              </a:rPr>
              <a:t>Solution:</a:t>
            </a:r>
            <a:endParaRPr b="1">
              <a:solidFill>
                <a:srgbClr val="1E2430"/>
              </a:solidFill>
            </a:endParaRPr>
          </a:p>
          <a:p>
            <a:pPr indent="-336550" lvl="0" marL="457200" rtl="0" algn="l">
              <a:lnSpc>
                <a:spcPct val="100000"/>
              </a:lnSpc>
              <a:spcBef>
                <a:spcPts val="0"/>
              </a:spcBef>
              <a:spcAft>
                <a:spcPts val="0"/>
              </a:spcAft>
              <a:buClr>
                <a:srgbClr val="1E2430"/>
              </a:buClr>
              <a:buSzPts val="1700"/>
              <a:buChar char="●"/>
            </a:pPr>
            <a:r>
              <a:rPr lang="en" sz="1700">
                <a:solidFill>
                  <a:srgbClr val="1E2430"/>
                </a:solidFill>
              </a:rPr>
              <a:t>A proposed solution is developing a RAG-based pipeline for the AI chatbot</a:t>
            </a:r>
            <a:endParaRPr sz="1700">
              <a:solidFill>
                <a:srgbClr val="1E2430"/>
              </a:solidFill>
            </a:endParaRPr>
          </a:p>
          <a:p>
            <a:pPr indent="-336550" lvl="0" marL="457200" rtl="0" algn="l">
              <a:lnSpc>
                <a:spcPct val="100000"/>
              </a:lnSpc>
              <a:spcBef>
                <a:spcPts val="0"/>
              </a:spcBef>
              <a:spcAft>
                <a:spcPts val="0"/>
              </a:spcAft>
              <a:buClr>
                <a:srgbClr val="1E2430"/>
              </a:buClr>
              <a:buSzPts val="1700"/>
              <a:buChar char="●"/>
            </a:pPr>
            <a:r>
              <a:rPr b="1" lang="en" sz="1700">
                <a:solidFill>
                  <a:srgbClr val="1E2430"/>
                </a:solidFill>
              </a:rPr>
              <a:t>Key Flow</a:t>
            </a:r>
            <a:r>
              <a:rPr lang="en" sz="1700">
                <a:solidFill>
                  <a:srgbClr val="1E2430"/>
                </a:solidFill>
              </a:rPr>
              <a:t>: User → Chat UI → AI/LLM Processing → Retrieval/Logic → AgWeatherNet Database → Response → Chat UI → User </a:t>
            </a:r>
            <a:endParaRPr sz="1700">
              <a:solidFill>
                <a:srgbClr val="1E243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Proposed Solution: RAG Pipeline - Components</a:t>
            </a:r>
            <a:endParaRPr>
              <a:latin typeface="Righteous"/>
              <a:ea typeface="Righteous"/>
              <a:cs typeface="Righteous"/>
              <a:sym typeface="Righteous"/>
            </a:endParaRPr>
          </a:p>
        </p:txBody>
      </p:sp>
      <p:pic>
        <p:nvPicPr>
          <p:cNvPr id="67" name="Google Shape;67;p15"/>
          <p:cNvPicPr preferRelativeResize="0"/>
          <p:nvPr/>
        </p:nvPicPr>
        <p:blipFill>
          <a:blip r:embed="rId3">
            <a:alphaModFix/>
          </a:blip>
          <a:stretch>
            <a:fillRect/>
          </a:stretch>
        </p:blipFill>
        <p:spPr>
          <a:xfrm>
            <a:off x="3752672" y="1262087"/>
            <a:ext cx="5079624" cy="3165275"/>
          </a:xfrm>
          <a:prstGeom prst="rect">
            <a:avLst/>
          </a:prstGeom>
          <a:noFill/>
          <a:ln>
            <a:noFill/>
          </a:ln>
        </p:spPr>
      </p:pic>
      <p:sp>
        <p:nvSpPr>
          <p:cNvPr id="68" name="Google Shape;68;p15"/>
          <p:cNvSpPr txBox="1"/>
          <p:nvPr/>
        </p:nvSpPr>
        <p:spPr>
          <a:xfrm>
            <a:off x="3752685" y="4477725"/>
            <a:ext cx="50796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Rag Pipeline - DeepLearning.AI, “Chat with your data” Course Overview</a:t>
            </a:r>
            <a:endParaRPr sz="1200">
              <a:solidFill>
                <a:schemeClr val="dk2"/>
              </a:solidFill>
            </a:endParaRPr>
          </a:p>
        </p:txBody>
      </p:sp>
      <p:sp>
        <p:nvSpPr>
          <p:cNvPr id="69" name="Google Shape;69;p15"/>
          <p:cNvSpPr txBox="1"/>
          <p:nvPr/>
        </p:nvSpPr>
        <p:spPr>
          <a:xfrm>
            <a:off x="7425350" y="639025"/>
            <a:ext cx="1603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FF0000"/>
                </a:solidFill>
              </a:rPr>
              <a:t>Embedding Model</a:t>
            </a:r>
            <a:endParaRPr sz="1500">
              <a:solidFill>
                <a:srgbClr val="FF0000"/>
              </a:solidFill>
            </a:endParaRPr>
          </a:p>
        </p:txBody>
      </p:sp>
      <p:cxnSp>
        <p:nvCxnSpPr>
          <p:cNvPr id="70" name="Google Shape;70;p15"/>
          <p:cNvCxnSpPr/>
          <p:nvPr/>
        </p:nvCxnSpPr>
        <p:spPr>
          <a:xfrm flipH="1">
            <a:off x="7631150" y="997600"/>
            <a:ext cx="233100" cy="1010700"/>
          </a:xfrm>
          <a:prstGeom prst="straightConnector1">
            <a:avLst/>
          </a:prstGeom>
          <a:noFill/>
          <a:ln cap="flat" cmpd="sng" w="9525">
            <a:solidFill>
              <a:srgbClr val="FF0000"/>
            </a:solidFill>
            <a:prstDash val="solid"/>
            <a:round/>
            <a:headEnd len="med" w="med" type="none"/>
            <a:tailEnd len="med" w="med" type="triangle"/>
          </a:ln>
        </p:spPr>
      </p:cxnSp>
      <p:sp>
        <p:nvSpPr>
          <p:cNvPr id="71" name="Google Shape;71;p15"/>
          <p:cNvSpPr txBox="1"/>
          <p:nvPr/>
        </p:nvSpPr>
        <p:spPr>
          <a:xfrm>
            <a:off x="2878800" y="2813775"/>
            <a:ext cx="1603800" cy="43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FF0000"/>
                </a:solidFill>
              </a:rPr>
              <a:t>Vector DB</a:t>
            </a:r>
            <a:endParaRPr sz="1500">
              <a:solidFill>
                <a:srgbClr val="FF0000"/>
              </a:solidFill>
            </a:endParaRPr>
          </a:p>
        </p:txBody>
      </p:sp>
      <p:cxnSp>
        <p:nvCxnSpPr>
          <p:cNvPr id="72" name="Google Shape;72;p15"/>
          <p:cNvCxnSpPr/>
          <p:nvPr/>
        </p:nvCxnSpPr>
        <p:spPr>
          <a:xfrm flipH="1" rot="10800000">
            <a:off x="4180425" y="2285875"/>
            <a:ext cx="3693600" cy="709200"/>
          </a:xfrm>
          <a:prstGeom prst="straightConnector1">
            <a:avLst/>
          </a:prstGeom>
          <a:noFill/>
          <a:ln cap="flat" cmpd="sng" w="9525">
            <a:solidFill>
              <a:srgbClr val="FF0000"/>
            </a:solidFill>
            <a:prstDash val="solid"/>
            <a:round/>
            <a:headEnd len="med" w="med" type="none"/>
            <a:tailEnd len="med" w="med" type="triangle"/>
          </a:ln>
        </p:spPr>
      </p:cxnSp>
      <p:cxnSp>
        <p:nvCxnSpPr>
          <p:cNvPr id="73" name="Google Shape;73;p15"/>
          <p:cNvCxnSpPr/>
          <p:nvPr/>
        </p:nvCxnSpPr>
        <p:spPr>
          <a:xfrm>
            <a:off x="4085175" y="3143250"/>
            <a:ext cx="709200" cy="359700"/>
          </a:xfrm>
          <a:prstGeom prst="straightConnector1">
            <a:avLst/>
          </a:prstGeom>
          <a:noFill/>
          <a:ln cap="flat" cmpd="sng" w="9525">
            <a:solidFill>
              <a:srgbClr val="FF0000"/>
            </a:solidFill>
            <a:prstDash val="solid"/>
            <a:round/>
            <a:headEnd len="med" w="med" type="none"/>
            <a:tailEnd len="med" w="med" type="triangle"/>
          </a:ln>
        </p:spPr>
      </p:cxnSp>
      <p:sp>
        <p:nvSpPr>
          <p:cNvPr id="74" name="Google Shape;74;p15"/>
          <p:cNvSpPr txBox="1"/>
          <p:nvPr/>
        </p:nvSpPr>
        <p:spPr>
          <a:xfrm>
            <a:off x="7540200" y="2813775"/>
            <a:ext cx="16038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rgbClr val="FF0000"/>
                </a:solidFill>
              </a:rPr>
              <a:t>Client Facing LLM</a:t>
            </a:r>
            <a:endParaRPr sz="1500">
              <a:solidFill>
                <a:srgbClr val="FF0000"/>
              </a:solidFill>
            </a:endParaRPr>
          </a:p>
        </p:txBody>
      </p:sp>
      <p:cxnSp>
        <p:nvCxnSpPr>
          <p:cNvPr id="75" name="Google Shape;75;p15"/>
          <p:cNvCxnSpPr/>
          <p:nvPr/>
        </p:nvCxnSpPr>
        <p:spPr>
          <a:xfrm flipH="1">
            <a:off x="7927000" y="3302000"/>
            <a:ext cx="201000" cy="264600"/>
          </a:xfrm>
          <a:prstGeom prst="straightConnector1">
            <a:avLst/>
          </a:prstGeom>
          <a:noFill/>
          <a:ln cap="flat" cmpd="sng" w="9525">
            <a:solidFill>
              <a:srgbClr val="FF0000"/>
            </a:solidFill>
            <a:prstDash val="solid"/>
            <a:round/>
            <a:headEnd len="med" w="med" type="none"/>
            <a:tailEnd len="med" w="med" type="triangle"/>
          </a:ln>
        </p:spPr>
      </p:cxnSp>
      <p:sp>
        <p:nvSpPr>
          <p:cNvPr id="76" name="Google Shape;76;p15"/>
          <p:cNvSpPr txBox="1"/>
          <p:nvPr/>
        </p:nvSpPr>
        <p:spPr>
          <a:xfrm>
            <a:off x="179925" y="1238250"/>
            <a:ext cx="3323400" cy="36750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Pipelines consist of many stages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Some steps require black box services</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Ex: DBs, AI/LLM</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see red items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Some steps will have custom implementation tailored to the problem</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Document preprocessing</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Data retrieval</a:t>
            </a:r>
            <a:endParaRPr sz="1800">
              <a:solidFill>
                <a:schemeClr val="dk2"/>
              </a:solidFill>
            </a:endParaRPr>
          </a:p>
          <a:p>
            <a:pPr indent="-342900" lvl="1" marL="914400" rtl="0" algn="l">
              <a:spcBef>
                <a:spcPts val="0"/>
              </a:spcBef>
              <a:spcAft>
                <a:spcPts val="0"/>
              </a:spcAft>
              <a:buClr>
                <a:schemeClr val="dk2"/>
              </a:buClr>
              <a:buSzPts val="1800"/>
              <a:buChar char="-"/>
            </a:pPr>
            <a:r>
              <a:rPr lang="en" sz="1800">
                <a:solidFill>
                  <a:schemeClr val="dk2"/>
                </a:solidFill>
              </a:rPr>
              <a:t>Prompt templates</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76800" y="430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RAG Pipeline - Searching and Indexing Strategy </a:t>
            </a:r>
            <a:endParaRPr>
              <a:latin typeface="Righteous"/>
              <a:ea typeface="Righteous"/>
              <a:cs typeface="Righteous"/>
              <a:sym typeface="Righteous"/>
            </a:endParaRPr>
          </a:p>
        </p:txBody>
      </p:sp>
      <p:sp>
        <p:nvSpPr>
          <p:cNvPr id="82" name="Google Shape;82;p16"/>
          <p:cNvSpPr txBox="1"/>
          <p:nvPr/>
        </p:nvSpPr>
        <p:spPr>
          <a:xfrm>
            <a:off x="-151425" y="1003250"/>
            <a:ext cx="3962100" cy="3632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Char char="●"/>
            </a:pPr>
            <a:r>
              <a:rPr lang="en">
                <a:solidFill>
                  <a:schemeClr val="dk2"/>
                </a:solidFill>
              </a:rPr>
              <a:t>Semantic Search</a:t>
            </a:r>
            <a:endParaRPr>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Requires pre-processing and vector embedding step before storage in vector DB</a:t>
            </a:r>
            <a:endParaRPr sz="12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Vector embedding represents the transformation of a data’s semantic meaning into a numerical form</a:t>
            </a:r>
            <a:endParaRPr sz="1200">
              <a:solidFill>
                <a:schemeClr val="dk2"/>
              </a:solidFill>
            </a:endParaRPr>
          </a:p>
          <a:p>
            <a:pPr indent="-304800" lvl="2" marL="1371600" rtl="0" algn="l">
              <a:spcBef>
                <a:spcPts val="0"/>
              </a:spcBef>
              <a:spcAft>
                <a:spcPts val="0"/>
              </a:spcAft>
              <a:buClr>
                <a:schemeClr val="dk2"/>
              </a:buClr>
              <a:buSzPts val="1200"/>
              <a:buChar char="■"/>
            </a:pPr>
            <a:r>
              <a:rPr lang="en" sz="1200">
                <a:solidFill>
                  <a:schemeClr val="dk2"/>
                </a:solidFill>
              </a:rPr>
              <a:t>Data with similar vectors/semantic reasoning are stored near each other for fast searches of related data</a:t>
            </a:r>
            <a:endParaRPr sz="12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Versatile search that can handle both structured and unstructured data</a:t>
            </a:r>
            <a:endParaRPr sz="12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Broadly used, meaning many tutorials and documentation available</a:t>
            </a:r>
            <a:endParaRPr sz="1200">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Note: We spoke with Prof. Parteek about searching strategy and he says Semantic search will be best</a:t>
            </a:r>
            <a:endParaRPr>
              <a:solidFill>
                <a:schemeClr val="dk2"/>
              </a:solidFill>
            </a:endParaRPr>
          </a:p>
        </p:txBody>
      </p:sp>
      <p:sp>
        <p:nvSpPr>
          <p:cNvPr id="83" name="Google Shape;83;p16"/>
          <p:cNvSpPr txBox="1"/>
          <p:nvPr/>
        </p:nvSpPr>
        <p:spPr>
          <a:xfrm>
            <a:off x="3448000" y="1003250"/>
            <a:ext cx="3064800" cy="2555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Char char="●"/>
            </a:pPr>
            <a:r>
              <a:rPr lang="en">
                <a:solidFill>
                  <a:schemeClr val="dk2"/>
                </a:solidFill>
              </a:rPr>
              <a:t>Keyword Search (BM25 index)</a:t>
            </a:r>
            <a:endParaRPr>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Great for structured data</a:t>
            </a:r>
            <a:endParaRPr sz="12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Minimal </a:t>
            </a:r>
            <a:r>
              <a:rPr lang="en" sz="1200">
                <a:solidFill>
                  <a:schemeClr val="dk2"/>
                </a:solidFill>
              </a:rPr>
              <a:t>preprocessing</a:t>
            </a:r>
            <a:r>
              <a:rPr lang="en" sz="1200">
                <a:solidFill>
                  <a:schemeClr val="dk2"/>
                </a:solidFill>
              </a:rPr>
              <a:t> required!</a:t>
            </a:r>
            <a:endParaRPr sz="12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Commonly used in production</a:t>
            </a:r>
            <a:endParaRPr sz="12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Only works for text data (keyword search)</a:t>
            </a:r>
            <a:endParaRPr sz="1200">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Note: Hybrid search in RAG, generally refers to a combination of Semantic and Keyword search</a:t>
            </a:r>
            <a:endParaRPr>
              <a:solidFill>
                <a:schemeClr val="dk2"/>
              </a:solidFill>
            </a:endParaRPr>
          </a:p>
        </p:txBody>
      </p:sp>
      <p:sp>
        <p:nvSpPr>
          <p:cNvPr id="84" name="Google Shape;84;p16"/>
          <p:cNvSpPr txBox="1"/>
          <p:nvPr/>
        </p:nvSpPr>
        <p:spPr>
          <a:xfrm>
            <a:off x="6386525" y="1003250"/>
            <a:ext cx="2757300" cy="28167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2"/>
              </a:buClr>
              <a:buSzPts val="1400"/>
              <a:buChar char="●"/>
            </a:pPr>
            <a:r>
              <a:rPr lang="en">
                <a:solidFill>
                  <a:schemeClr val="dk2"/>
                </a:solidFill>
              </a:rPr>
              <a:t>Honorable mentions</a:t>
            </a:r>
            <a:endParaRPr>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LLM Generated SQL</a:t>
            </a:r>
            <a:endParaRPr>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LLM makes calls directly to DB</a:t>
            </a:r>
            <a:endParaRPr sz="1200">
              <a:solidFill>
                <a:schemeClr val="dk2"/>
              </a:solidFill>
            </a:endParaRPr>
          </a:p>
          <a:p>
            <a:pPr indent="-317500" lvl="0" marL="457200" rtl="0" algn="l">
              <a:spcBef>
                <a:spcPts val="0"/>
              </a:spcBef>
              <a:spcAft>
                <a:spcPts val="0"/>
              </a:spcAft>
              <a:buClr>
                <a:schemeClr val="dk2"/>
              </a:buClr>
              <a:buSzPts val="1400"/>
              <a:buChar char="●"/>
            </a:pPr>
            <a:r>
              <a:rPr lang="en">
                <a:solidFill>
                  <a:schemeClr val="dk2"/>
                </a:solidFill>
              </a:rPr>
              <a:t>Metadata Filtering</a:t>
            </a:r>
            <a:endParaRPr>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Restrict search space by filtering out data based on metadata labels</a:t>
            </a:r>
            <a:endParaRPr sz="1200">
              <a:solidFill>
                <a:schemeClr val="dk2"/>
              </a:solidFill>
            </a:endParaRPr>
          </a:p>
          <a:p>
            <a:pPr indent="-298450" lvl="2" marL="1371600" rtl="0" algn="l">
              <a:spcBef>
                <a:spcPts val="0"/>
              </a:spcBef>
              <a:spcAft>
                <a:spcPts val="0"/>
              </a:spcAft>
              <a:buClr>
                <a:schemeClr val="dk2"/>
              </a:buClr>
              <a:buSzPts val="1100"/>
              <a:buChar char="■"/>
            </a:pPr>
            <a:r>
              <a:rPr lang="en" sz="1100">
                <a:solidFill>
                  <a:schemeClr val="dk2"/>
                </a:solidFill>
              </a:rPr>
              <a:t>Ex: Restricting search to a single weather station</a:t>
            </a:r>
            <a:endParaRPr sz="1100">
              <a:solidFill>
                <a:schemeClr val="dk2"/>
              </a:solidFill>
            </a:endParaRPr>
          </a:p>
          <a:p>
            <a:pPr indent="-304800" lvl="1" marL="914400" rtl="0" algn="l">
              <a:spcBef>
                <a:spcPts val="0"/>
              </a:spcBef>
              <a:spcAft>
                <a:spcPts val="0"/>
              </a:spcAft>
              <a:buClr>
                <a:schemeClr val="dk2"/>
              </a:buClr>
              <a:buSzPts val="1200"/>
              <a:buChar char="○"/>
            </a:pPr>
            <a:r>
              <a:rPr lang="en" sz="1200">
                <a:solidFill>
                  <a:schemeClr val="dk2"/>
                </a:solidFill>
              </a:rPr>
              <a:t>Will likely still be used to assist semantic search!</a:t>
            </a:r>
            <a:endParaRPr sz="12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latin typeface="Righteous"/>
                <a:ea typeface="Righteous"/>
                <a:cs typeface="Righteous"/>
                <a:sym typeface="Righteous"/>
              </a:rPr>
              <a:t>RAG Pipeline - Embedding Model Compon</a:t>
            </a:r>
            <a:r>
              <a:rPr lang="en">
                <a:latin typeface="Righteous"/>
                <a:ea typeface="Righteous"/>
                <a:cs typeface="Righteous"/>
                <a:sym typeface="Righteous"/>
              </a:rPr>
              <a:t>ent</a:t>
            </a:r>
            <a:endParaRPr>
              <a:latin typeface="Righteous"/>
              <a:ea typeface="Righteous"/>
              <a:cs typeface="Righteous"/>
              <a:sym typeface="Righteous"/>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0" name="Google Shape;9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0"/>
              </a:spcBef>
              <a:spcAft>
                <a:spcPts val="0"/>
              </a:spcAft>
              <a:buClr>
                <a:schemeClr val="dk2"/>
              </a:buClr>
              <a:buSzPts val="1400"/>
              <a:buChar char="●"/>
            </a:pPr>
            <a:r>
              <a:rPr lang="en" sz="1400"/>
              <a:t>Converts text into dense vectors that capture semantic meaning</a:t>
            </a:r>
            <a:endParaRPr sz="1400"/>
          </a:p>
          <a:p>
            <a:pPr indent="0" lvl="0" marL="45720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Clr>
                <a:schemeClr val="dk2"/>
              </a:buClr>
              <a:buSzPts val="1400"/>
              <a:buChar char="●"/>
            </a:pPr>
            <a:r>
              <a:rPr lang="en" sz="1400"/>
              <a:t>Used to embed user questions, schema descriptions, field metadata, and example queries</a:t>
            </a:r>
            <a:endParaRPr sz="1400"/>
          </a:p>
          <a:p>
            <a:pPr indent="0" lvl="0" marL="457200" rtl="0" algn="l">
              <a:lnSpc>
                <a:spcPct val="100000"/>
              </a:lnSpc>
              <a:spcBef>
                <a:spcPts val="0"/>
              </a:spcBef>
              <a:spcAft>
                <a:spcPts val="0"/>
              </a:spcAft>
              <a:buNone/>
            </a:pPr>
            <a:r>
              <a:t/>
            </a:r>
            <a:endParaRPr sz="1400"/>
          </a:p>
          <a:p>
            <a:pPr indent="-317500" lvl="0" marL="457200" rtl="0" algn="l">
              <a:lnSpc>
                <a:spcPct val="100000"/>
              </a:lnSpc>
              <a:spcBef>
                <a:spcPts val="0"/>
              </a:spcBef>
              <a:spcAft>
                <a:spcPts val="0"/>
              </a:spcAft>
              <a:buClr>
                <a:schemeClr val="dk2"/>
              </a:buClr>
              <a:buSzPts val="1400"/>
              <a:buChar char="●"/>
            </a:pPr>
            <a:r>
              <a:rPr lang="en" sz="1400"/>
              <a:t>Supports a semantic retrieval layer on top of structured AgWeatherNet data rather than replacing the database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68225" y="190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RAG Pipeline - Embedding Model Compon</a:t>
            </a:r>
            <a:r>
              <a:rPr lang="en">
                <a:latin typeface="Righteous"/>
                <a:ea typeface="Righteous"/>
                <a:cs typeface="Righteous"/>
                <a:sym typeface="Righteous"/>
              </a:rPr>
              <a:t>ent</a:t>
            </a:r>
            <a:endParaRPr>
              <a:latin typeface="Righteous"/>
              <a:ea typeface="Righteous"/>
              <a:cs typeface="Righteous"/>
              <a:sym typeface="Righteous"/>
            </a:endParaRPr>
          </a:p>
        </p:txBody>
      </p:sp>
      <p:sp>
        <p:nvSpPr>
          <p:cNvPr id="96" name="Google Shape;96;p18"/>
          <p:cNvSpPr txBox="1"/>
          <p:nvPr/>
        </p:nvSpPr>
        <p:spPr>
          <a:xfrm>
            <a:off x="0" y="864000"/>
            <a:ext cx="3262200" cy="340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Qwen3-Embedding-4B</a:t>
            </a:r>
            <a:endParaRPr>
              <a:solidFill>
                <a:schemeClr val="dk2"/>
              </a:solidFill>
            </a:endParaRPr>
          </a:p>
          <a:p>
            <a:pPr indent="0" lvl="0" marL="0" rtl="0" algn="l">
              <a:lnSpc>
                <a:spcPct val="115000"/>
              </a:lnSpc>
              <a:spcBef>
                <a:spcPts val="1400"/>
              </a:spcBef>
              <a:spcAft>
                <a:spcPts val="0"/>
              </a:spcAft>
              <a:buNone/>
            </a:pPr>
            <a:r>
              <a:rPr b="1" lang="en" sz="1300">
                <a:solidFill>
                  <a:schemeClr val="dk1"/>
                </a:solidFill>
              </a:rPr>
              <a:t>Pros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Strongest retrieval quality for self hosted options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Large context window</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Best </a:t>
            </a:r>
            <a:r>
              <a:rPr lang="en" sz="1100">
                <a:solidFill>
                  <a:schemeClr val="dk1"/>
                </a:solidFill>
              </a:rPr>
              <a:t>retrieval</a:t>
            </a:r>
            <a:r>
              <a:rPr lang="en" sz="1100">
                <a:solidFill>
                  <a:schemeClr val="dk1"/>
                </a:solidFill>
              </a:rPr>
              <a:t> capabilities</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Cons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Higher computing costs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likely GPU-backed deployment for good performance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more infra complexity than smaller models</a:t>
            </a:r>
            <a:endParaRPr sz="1100">
              <a:solidFill>
                <a:schemeClr val="dk1"/>
              </a:solidFill>
            </a:endParaRPr>
          </a:p>
          <a:p>
            <a:pPr indent="0" lvl="0" marL="0" rtl="0" algn="l">
              <a:spcBef>
                <a:spcPts val="1200"/>
              </a:spcBef>
              <a:spcAft>
                <a:spcPts val="0"/>
              </a:spcAft>
              <a:buNone/>
            </a:pPr>
            <a:r>
              <a:rPr lang="en" sz="1100">
                <a:solidFill>
                  <a:schemeClr val="dk1"/>
                </a:solidFill>
              </a:rPr>
              <a:t>Rank: #5</a:t>
            </a:r>
            <a:endParaRPr>
              <a:solidFill>
                <a:schemeClr val="dk2"/>
              </a:solidFill>
            </a:endParaRPr>
          </a:p>
        </p:txBody>
      </p:sp>
      <p:sp>
        <p:nvSpPr>
          <p:cNvPr id="97" name="Google Shape;97;p18"/>
          <p:cNvSpPr txBox="1"/>
          <p:nvPr/>
        </p:nvSpPr>
        <p:spPr>
          <a:xfrm>
            <a:off x="3262200" y="864000"/>
            <a:ext cx="3202200" cy="340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Qwen3-Embedding-0.6B</a:t>
            </a:r>
            <a:endParaRPr>
              <a:solidFill>
                <a:schemeClr val="dk2"/>
              </a:solidFill>
            </a:endParaRPr>
          </a:p>
          <a:p>
            <a:pPr indent="0" lvl="0" marL="0" rtl="0" algn="l">
              <a:lnSpc>
                <a:spcPct val="115000"/>
              </a:lnSpc>
              <a:spcBef>
                <a:spcPts val="1400"/>
              </a:spcBef>
              <a:spcAft>
                <a:spcPts val="0"/>
              </a:spcAft>
              <a:buNone/>
            </a:pPr>
            <a:r>
              <a:rPr b="1" lang="en" sz="1300">
                <a:solidFill>
                  <a:schemeClr val="dk1"/>
                </a:solidFill>
              </a:rPr>
              <a:t>Pros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lowest</a:t>
            </a:r>
            <a:r>
              <a:rPr lang="en" sz="1100">
                <a:solidFill>
                  <a:schemeClr val="dk1"/>
                </a:solidFill>
              </a:rPr>
              <a:t> cost serious candidate among top realistic choices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long context support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lighter and easier to deploy than Qwen 4B</a:t>
            </a:r>
            <a:endParaRPr sz="1100">
              <a:solidFill>
                <a:schemeClr val="dk1"/>
              </a:solidFill>
            </a:endParaRPr>
          </a:p>
          <a:p>
            <a:pPr indent="0" lvl="0" marL="0" rtl="0" algn="l">
              <a:lnSpc>
                <a:spcPct val="115000"/>
              </a:lnSpc>
              <a:spcBef>
                <a:spcPts val="1400"/>
              </a:spcBef>
              <a:spcAft>
                <a:spcPts val="0"/>
              </a:spcAft>
              <a:buNone/>
            </a:pPr>
            <a:r>
              <a:rPr b="1" lang="en" sz="1300">
                <a:solidFill>
                  <a:schemeClr val="dk1"/>
                </a:solidFill>
              </a:rPr>
              <a:t>Cons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weaker retrieval quality than Jina and 4B</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may trade off some retrieval quality for efficiency</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Rank: #13</a:t>
            </a:r>
            <a:endParaRPr sz="1100">
              <a:solidFill>
                <a:schemeClr val="dk1"/>
              </a:solidFill>
            </a:endParaRPr>
          </a:p>
        </p:txBody>
      </p:sp>
      <p:sp>
        <p:nvSpPr>
          <p:cNvPr id="98" name="Google Shape;98;p18"/>
          <p:cNvSpPr txBox="1"/>
          <p:nvPr/>
        </p:nvSpPr>
        <p:spPr>
          <a:xfrm>
            <a:off x="6387300" y="864000"/>
            <a:ext cx="2756700" cy="4024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a:solidFill>
                  <a:schemeClr val="dk2"/>
                </a:solidFill>
              </a:rPr>
              <a:t> Jina-embeddings-v5-text-small</a:t>
            </a:r>
            <a:endParaRPr>
              <a:solidFill>
                <a:schemeClr val="dk2"/>
              </a:solidFill>
            </a:endParaRPr>
          </a:p>
          <a:p>
            <a:pPr indent="0" lvl="0" marL="0" rtl="0" algn="l">
              <a:lnSpc>
                <a:spcPct val="115000"/>
              </a:lnSpc>
              <a:spcBef>
                <a:spcPts val="1400"/>
              </a:spcBef>
              <a:spcAft>
                <a:spcPts val="0"/>
              </a:spcAft>
              <a:buNone/>
            </a:pPr>
            <a:r>
              <a:rPr b="1" lang="en" sz="1300">
                <a:solidFill>
                  <a:schemeClr val="dk1"/>
                </a:solidFill>
              </a:rPr>
              <a:t>Pros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best balance of quality and deployment cost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much lighter than Qwen 4B</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long context support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good practical first deployment option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Cost friendly </a:t>
            </a:r>
            <a:endParaRPr sz="1100">
              <a:solidFill>
                <a:schemeClr val="dk1"/>
              </a:solidFill>
            </a:endParaRPr>
          </a:p>
          <a:p>
            <a:pPr indent="0" lvl="0" marL="0" rtl="0" algn="l">
              <a:lnSpc>
                <a:spcPct val="115000"/>
              </a:lnSpc>
              <a:spcBef>
                <a:spcPts val="1400"/>
              </a:spcBef>
              <a:spcAft>
                <a:spcPts val="0"/>
              </a:spcAft>
              <a:buNone/>
            </a:pPr>
            <a:r>
              <a:rPr b="1" lang="en" sz="1300">
                <a:solidFill>
                  <a:schemeClr val="dk1"/>
                </a:solidFill>
              </a:rPr>
              <a:t>Cons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weaker than Qwen 4B on raw performance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Not the top performing model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Lower retrieval quality than 4B</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Rank: #11</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76800" y="430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RAG Pipeline - Vector Store Component</a:t>
            </a:r>
            <a:endParaRPr>
              <a:latin typeface="Righteous"/>
              <a:ea typeface="Righteous"/>
              <a:cs typeface="Righteous"/>
              <a:sym typeface="Righteous"/>
            </a:endParaRPr>
          </a:p>
        </p:txBody>
      </p:sp>
      <p:sp>
        <p:nvSpPr>
          <p:cNvPr id="104" name="Google Shape;104;p19"/>
          <p:cNvSpPr txBox="1"/>
          <p:nvPr/>
        </p:nvSpPr>
        <p:spPr>
          <a:xfrm>
            <a:off x="50926" y="959550"/>
            <a:ext cx="3625200" cy="4068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dk1"/>
                </a:solidFill>
              </a:rPr>
              <a:t>PostgreSQL w/ PgVector</a:t>
            </a:r>
            <a:endParaRPr>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Pros</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 sz="1100">
                <a:solidFill>
                  <a:schemeClr val="dk1"/>
                </a:solidFill>
              </a:rPr>
              <a:t>Self-hosted or Hosted, offered everywhere</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 sz="1100">
                <a:solidFill>
                  <a:schemeClr val="dk1"/>
                </a:solidFill>
              </a:rPr>
              <a:t>Extension for PostgreSQL, so familiarity and lots of docs available</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 sz="1100">
                <a:solidFill>
                  <a:schemeClr val="dk1"/>
                </a:solidFill>
              </a:rPr>
              <a:t>PostGreSQL is reliable and has been in production for decades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Cons</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 sz="1100">
                <a:solidFill>
                  <a:schemeClr val="dk1"/>
                </a:solidFill>
              </a:rPr>
              <a:t>PostgreSQL was not built as vector DB first, so may have performance constraints at very high loads when compared to pure Vector DBs</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 sz="1100">
                <a:solidFill>
                  <a:schemeClr val="dk1"/>
                </a:solidFill>
              </a:rPr>
              <a:t>pgvector is more basic, and is missing some conveniences like built in hybrid search (BM25 Keyword + vector search)</a:t>
            </a:r>
            <a:endParaRPr sz="1100">
              <a:solidFill>
                <a:schemeClr val="dk1"/>
              </a:solidFill>
            </a:endParaRPr>
          </a:p>
          <a:p>
            <a:pPr indent="-298450" lvl="3" marL="1828800" rtl="0" algn="l">
              <a:lnSpc>
                <a:spcPct val="115000"/>
              </a:lnSpc>
              <a:spcBef>
                <a:spcPts val="0"/>
              </a:spcBef>
              <a:spcAft>
                <a:spcPts val="0"/>
              </a:spcAft>
              <a:buClr>
                <a:schemeClr val="dk1"/>
              </a:buClr>
              <a:buSzPts val="1100"/>
              <a:buChar char="●"/>
            </a:pPr>
            <a:r>
              <a:rPr lang="en" sz="1100">
                <a:solidFill>
                  <a:schemeClr val="dk1"/>
                </a:solidFill>
              </a:rPr>
              <a:t>Hybrid search still possible</a:t>
            </a:r>
            <a:endParaRPr sz="1100">
              <a:solidFill>
                <a:schemeClr val="dk1"/>
              </a:solidFill>
            </a:endParaRPr>
          </a:p>
        </p:txBody>
      </p:sp>
      <p:sp>
        <p:nvSpPr>
          <p:cNvPr id="105" name="Google Shape;105;p19"/>
          <p:cNvSpPr txBox="1"/>
          <p:nvPr/>
        </p:nvSpPr>
        <p:spPr>
          <a:xfrm>
            <a:off x="3095076" y="959550"/>
            <a:ext cx="3248400" cy="2734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dk1"/>
                </a:solidFill>
              </a:rPr>
              <a:t>QDrant DB</a:t>
            </a:r>
            <a:endParaRPr>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Pros</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Fully featured and pure Vector DB with many conveniences the main one being built in hybrid search</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Cons</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Only hosted/managed options available</a:t>
            </a:r>
            <a:endParaRPr sz="11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Additional Notes:</a:t>
            </a:r>
            <a:endParaRPr sz="15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There are other popular Vector DBs that compete with QDrant DB, all offer similar features and are restricted to managed options so they have been omitted. If you are interested in the managed only options we can look more into them.</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Ex: Pinecone DB, Weavite, Milvus </a:t>
            </a:r>
            <a:endParaRPr sz="1100">
              <a:solidFill>
                <a:schemeClr val="dk1"/>
              </a:solidFill>
            </a:endParaRPr>
          </a:p>
        </p:txBody>
      </p:sp>
      <p:sp>
        <p:nvSpPr>
          <p:cNvPr id="106" name="Google Shape;106;p19"/>
          <p:cNvSpPr txBox="1"/>
          <p:nvPr/>
        </p:nvSpPr>
        <p:spPr>
          <a:xfrm>
            <a:off x="5824301" y="959550"/>
            <a:ext cx="3248400" cy="2734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a:solidFill>
                  <a:schemeClr val="dk1"/>
                </a:solidFill>
              </a:rPr>
              <a:t>Chroma DB</a:t>
            </a:r>
            <a:endParaRPr>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Pros</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 sz="1100">
                <a:solidFill>
                  <a:schemeClr val="dk1"/>
                </a:solidFill>
              </a:rPr>
              <a:t>Self-hosted or Hosted</a:t>
            </a:r>
            <a:endParaRPr sz="1100">
              <a:solidFill>
                <a:schemeClr val="dk1"/>
              </a:solidFill>
            </a:endParaRPr>
          </a:p>
          <a:p>
            <a:pPr indent="-298450" lvl="2" marL="1371600" rtl="0" algn="l">
              <a:lnSpc>
                <a:spcPct val="115000"/>
              </a:lnSpc>
              <a:spcBef>
                <a:spcPts val="0"/>
              </a:spcBef>
              <a:spcAft>
                <a:spcPts val="0"/>
              </a:spcAft>
              <a:buClr>
                <a:schemeClr val="dk1"/>
              </a:buClr>
              <a:buSzPts val="1100"/>
              <a:buChar char="■"/>
            </a:pPr>
            <a:r>
              <a:rPr lang="en" sz="1100">
                <a:solidFill>
                  <a:schemeClr val="dk1"/>
                </a:solidFill>
              </a:rPr>
              <a:t>Incredibly simple setup and management</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Cons</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In memory DB</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Does not support concurrent accesses</a:t>
            </a:r>
            <a:endParaRPr sz="1100">
              <a:solidFill>
                <a:schemeClr val="dk1"/>
              </a:solidFill>
            </a:endParaRPr>
          </a:p>
          <a:p>
            <a:pPr indent="-298450" lvl="2" marL="1371600" rtl="0" algn="l">
              <a:spcBef>
                <a:spcPts val="0"/>
              </a:spcBef>
              <a:spcAft>
                <a:spcPts val="0"/>
              </a:spcAft>
              <a:buClr>
                <a:schemeClr val="dk1"/>
              </a:buClr>
              <a:buSzPts val="1100"/>
              <a:buChar char="■"/>
            </a:pPr>
            <a:r>
              <a:rPr lang="en" sz="1100">
                <a:solidFill>
                  <a:schemeClr val="dk1"/>
                </a:solidFill>
              </a:rPr>
              <a:t>Single file, only scales vertically</a:t>
            </a:r>
            <a:endParaRPr sz="1100">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Additional Notes:</a:t>
            </a:r>
            <a:endParaRPr>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 simple way to describe Chroma DB is its more or less the Vector DB equivalent of Sqlite, with similar benefits and drawbacks</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76800" y="430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RAG Pipeline - LLM Model Component</a:t>
            </a:r>
            <a:endParaRPr>
              <a:latin typeface="Righteous"/>
              <a:ea typeface="Righteous"/>
              <a:cs typeface="Righteous"/>
              <a:sym typeface="Righteous"/>
            </a:endParaRPr>
          </a:p>
        </p:txBody>
      </p:sp>
      <p:sp>
        <p:nvSpPr>
          <p:cNvPr id="112" name="Google Shape;112;p20"/>
          <p:cNvSpPr txBox="1"/>
          <p:nvPr/>
        </p:nvSpPr>
        <p:spPr>
          <a:xfrm>
            <a:off x="458275" y="1035150"/>
            <a:ext cx="7873500" cy="30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LLM Model choice</a:t>
            </a:r>
            <a:r>
              <a:rPr b="1" lang="en" sz="1600">
                <a:solidFill>
                  <a:schemeClr val="dk1"/>
                </a:solidFill>
              </a:rPr>
              <a:t> </a:t>
            </a:r>
            <a:r>
              <a:rPr b="1" lang="en" sz="1800">
                <a:solidFill>
                  <a:schemeClr val="dk1"/>
                </a:solidFill>
              </a:rPr>
              <a:t>→ Impacts grounding reliability &amp; hallucination risk</a:t>
            </a:r>
            <a:endParaRPr b="1"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General self-hosting LLM model:</a:t>
            </a:r>
            <a:endParaRPr sz="18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Pros:</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Data never leaves your environment (no outside data)</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No per-token API costs</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Full control over stack and performance</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Cons:</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Requires hardware setup, configuration, and ongoing maintenance</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Large models demand significant GPU/storage resources</a:t>
            </a:r>
            <a:endParaRPr sz="16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76800" y="430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RAG Pipeline - LLM Model Co</a:t>
            </a:r>
            <a:r>
              <a:rPr lang="en">
                <a:latin typeface="Righteous"/>
                <a:ea typeface="Righteous"/>
                <a:cs typeface="Righteous"/>
                <a:sym typeface="Righteous"/>
              </a:rPr>
              <a:t>mpo</a:t>
            </a:r>
            <a:r>
              <a:rPr lang="en">
                <a:latin typeface="Righteous"/>
                <a:ea typeface="Righteous"/>
                <a:cs typeface="Righteous"/>
                <a:sym typeface="Righteous"/>
              </a:rPr>
              <a:t>nent</a:t>
            </a:r>
            <a:endParaRPr>
              <a:latin typeface="Righteous"/>
              <a:ea typeface="Righteous"/>
              <a:cs typeface="Righteous"/>
              <a:sym typeface="Righteous"/>
            </a:endParaRPr>
          </a:p>
        </p:txBody>
      </p:sp>
      <p:sp>
        <p:nvSpPr>
          <p:cNvPr id="118" name="Google Shape;118;p21"/>
          <p:cNvSpPr txBox="1"/>
          <p:nvPr/>
        </p:nvSpPr>
        <p:spPr>
          <a:xfrm>
            <a:off x="81725" y="1204500"/>
            <a:ext cx="3248400" cy="2734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lang="en" sz="1600">
                <a:solidFill>
                  <a:schemeClr val="dk1"/>
                </a:solidFill>
              </a:rPr>
              <a:t>Llama 3.x (Meta)</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Pros:</a:t>
            </a:r>
            <a:endParaRPr sz="16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Best ecosystem support</a:t>
            </a:r>
            <a:endParaRPr sz="12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8B model runs on modest hardware with strong performance</a:t>
            </a:r>
            <a:endParaRPr sz="12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Strong instruction-following for grounding prompts</a:t>
            </a:r>
            <a:endParaRPr sz="12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Cons:</a:t>
            </a:r>
            <a:endParaRPr sz="16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Stronger general-world knowledge -&gt; Higher risk of ignoring strict grounding</a:t>
            </a:r>
            <a:endParaRPr sz="12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Larger variants need powerful GPUs</a:t>
            </a:r>
            <a:endParaRPr sz="1200">
              <a:solidFill>
                <a:schemeClr val="dk1"/>
              </a:solidFill>
            </a:endParaRPr>
          </a:p>
        </p:txBody>
      </p:sp>
      <p:sp>
        <p:nvSpPr>
          <p:cNvPr id="119" name="Google Shape;119;p21"/>
          <p:cNvSpPr txBox="1"/>
          <p:nvPr/>
        </p:nvSpPr>
        <p:spPr>
          <a:xfrm>
            <a:off x="2515300" y="1204500"/>
            <a:ext cx="3443100" cy="2734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lang="en" sz="1600">
                <a:solidFill>
                  <a:schemeClr val="dk1"/>
                </a:solidFill>
              </a:rPr>
              <a:t>Gemma 3 (Google DeepMind)</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Pros:</a:t>
            </a:r>
            <a:endParaRPr sz="16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Best-in-class small model (4B is highly efficient)</a:t>
            </a:r>
            <a:endParaRPr sz="12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Strong numerical/reasoning performance (Good for weather data)</a:t>
            </a:r>
            <a:endParaRPr sz="12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Cons:</a:t>
            </a:r>
            <a:endParaRPr sz="16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Not a true open-source license (May complicate fine-tuning)</a:t>
            </a:r>
            <a:endParaRPr sz="12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Google-backed -&gt; Trained on heavy general knowledge, some grounding risk</a:t>
            </a:r>
            <a:endParaRPr sz="1200">
              <a:solidFill>
                <a:schemeClr val="dk1"/>
              </a:solidFill>
            </a:endParaRPr>
          </a:p>
        </p:txBody>
      </p:sp>
      <p:sp>
        <p:nvSpPr>
          <p:cNvPr id="120" name="Google Shape;120;p21"/>
          <p:cNvSpPr txBox="1"/>
          <p:nvPr/>
        </p:nvSpPr>
        <p:spPr>
          <a:xfrm>
            <a:off x="5785275" y="1204500"/>
            <a:ext cx="3248400" cy="27345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lang="en" sz="1600">
                <a:solidFill>
                  <a:schemeClr val="dk1"/>
                </a:solidFill>
              </a:rPr>
              <a:t>Qwen 2.5 (Alibaba)</a:t>
            </a:r>
            <a:endParaRPr sz="16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Pros:</a:t>
            </a:r>
            <a:endParaRPr sz="16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Best numerical reasoning (Does not hallucinate units)</a:t>
            </a:r>
            <a:endParaRPr sz="12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Reliable structured/JSON output (Ideal for RAG pipelines)</a:t>
            </a:r>
            <a:endParaRPr sz="12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Apache 2.0 license (Cleanest for commercial use)</a:t>
            </a:r>
            <a:endParaRPr sz="1200">
              <a:solidFill>
                <a:schemeClr val="dk1"/>
              </a:solidFill>
            </a:endParaRPr>
          </a:p>
          <a:p>
            <a:pPr indent="-330200" lvl="1" marL="914400" rtl="0" algn="l">
              <a:spcBef>
                <a:spcPts val="0"/>
              </a:spcBef>
              <a:spcAft>
                <a:spcPts val="0"/>
              </a:spcAft>
              <a:buClr>
                <a:schemeClr val="dk1"/>
              </a:buClr>
              <a:buSzPts val="1600"/>
              <a:buChar char="○"/>
            </a:pPr>
            <a:r>
              <a:rPr lang="en" sz="1600">
                <a:solidFill>
                  <a:schemeClr val="dk1"/>
                </a:solidFill>
              </a:rPr>
              <a:t>Cons:</a:t>
            </a:r>
            <a:endParaRPr sz="16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Smallest ecosystem</a:t>
            </a:r>
            <a:endParaRPr sz="1200">
              <a:solidFill>
                <a:schemeClr val="dk1"/>
              </a:solidFill>
            </a:endParaRPr>
          </a:p>
          <a:p>
            <a:pPr indent="-304800" lvl="2" marL="1371600" rtl="0" algn="l">
              <a:spcBef>
                <a:spcPts val="0"/>
              </a:spcBef>
              <a:spcAft>
                <a:spcPts val="0"/>
              </a:spcAft>
              <a:buClr>
                <a:schemeClr val="dk1"/>
              </a:buClr>
              <a:buSzPts val="1200"/>
              <a:buChar char="■"/>
            </a:pPr>
            <a:r>
              <a:rPr lang="en" sz="1200">
                <a:solidFill>
                  <a:schemeClr val="dk1"/>
                </a:solidFill>
              </a:rPr>
              <a:t>Alibaba-developed</a:t>
            </a:r>
            <a:endParaRPr sz="12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76800" y="116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LLM Hosting </a:t>
            </a:r>
            <a:r>
              <a:rPr lang="en">
                <a:latin typeface="Righteous"/>
                <a:ea typeface="Righteous"/>
                <a:cs typeface="Righteous"/>
                <a:sym typeface="Righteous"/>
              </a:rPr>
              <a:t>- Hardware Requirements</a:t>
            </a:r>
            <a:endParaRPr>
              <a:latin typeface="Righteous"/>
              <a:ea typeface="Righteous"/>
              <a:cs typeface="Righteous"/>
              <a:sym typeface="Righteous"/>
            </a:endParaRPr>
          </a:p>
        </p:txBody>
      </p:sp>
      <p:sp>
        <p:nvSpPr>
          <p:cNvPr id="126" name="Google Shape;126;p22"/>
          <p:cNvSpPr txBox="1"/>
          <p:nvPr/>
        </p:nvSpPr>
        <p:spPr>
          <a:xfrm>
            <a:off x="83625" y="585450"/>
            <a:ext cx="8969700" cy="45582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en" sz="1600">
                <a:solidFill>
                  <a:schemeClr val="dk2"/>
                </a:solidFill>
              </a:rPr>
              <a:t>Predicting</a:t>
            </a:r>
            <a:r>
              <a:rPr lang="en" sz="1600">
                <a:solidFill>
                  <a:schemeClr val="dk2"/>
                </a:solidFill>
              </a:rPr>
              <a:t> </a:t>
            </a:r>
            <a:r>
              <a:rPr lang="en" sz="1600">
                <a:solidFill>
                  <a:schemeClr val="dk2"/>
                </a:solidFill>
              </a:rPr>
              <a:t>hardware requirements for LLM is complicated, but has several primary factors</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Model Parameters, in billions, directly influences VRAM/RAM storage required</a:t>
            </a:r>
            <a:endParaRPr sz="1600">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0.6B, 2B, 4B, 8B, …</a:t>
            </a:r>
            <a:endParaRPr>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Represents the computations model goes through to make decisions</a:t>
            </a:r>
            <a:endParaRPr>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On paper correlates with the models “smartness”</a:t>
            </a:r>
            <a:endParaRPr>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To compare, popular models (GPT/Claude) are likely measured in trillions of parameters, but their designs are top secret. For reference open source model Deepseek-R1 which competes with the large companies currently sits at 671B parameters</a:t>
            </a:r>
            <a:endParaRPr>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Quantization or “how the model parameters are stored and operated on”</a:t>
            </a:r>
            <a:endParaRPr sz="1600">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Quantization is a solution used to allow LLMs to operate in restrained hardware environments</a:t>
            </a:r>
            <a:endParaRPr>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floating point parameters have higher accuracy but are more expensive to store(larger VRAM)</a:t>
            </a:r>
            <a:endParaRPr>
              <a:solidFill>
                <a:schemeClr val="dk2"/>
              </a:solidFill>
            </a:endParaRPr>
          </a:p>
          <a:p>
            <a:pPr indent="-317500" lvl="3" marL="1828800" rtl="0" algn="l">
              <a:spcBef>
                <a:spcPts val="0"/>
              </a:spcBef>
              <a:spcAft>
                <a:spcPts val="0"/>
              </a:spcAft>
              <a:buClr>
                <a:schemeClr val="dk2"/>
              </a:buClr>
              <a:buSzPts val="1400"/>
              <a:buChar char="●"/>
            </a:pPr>
            <a:r>
              <a:rPr lang="en">
                <a:solidFill>
                  <a:schemeClr val="dk2"/>
                </a:solidFill>
              </a:rPr>
              <a:t>F16, F32 are originally used during model training</a:t>
            </a:r>
            <a:endParaRPr>
              <a:solidFill>
                <a:schemeClr val="dk2"/>
              </a:solidFill>
            </a:endParaRPr>
          </a:p>
          <a:p>
            <a:pPr indent="-317500" lvl="3" marL="1828800" rtl="0" algn="l">
              <a:spcBef>
                <a:spcPts val="0"/>
              </a:spcBef>
              <a:spcAft>
                <a:spcPts val="0"/>
              </a:spcAft>
              <a:buClr>
                <a:schemeClr val="dk2"/>
              </a:buClr>
              <a:buSzPts val="1400"/>
              <a:buChar char="●"/>
            </a:pPr>
            <a:r>
              <a:rPr lang="en">
                <a:solidFill>
                  <a:schemeClr val="dk2"/>
                </a:solidFill>
              </a:rPr>
              <a:t>F16/F32 considered “unquantized”, it’s the original design and size</a:t>
            </a:r>
            <a:endParaRPr>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Integer quantization - storing model weights as integers can use less space</a:t>
            </a:r>
            <a:endParaRPr>
              <a:solidFill>
                <a:schemeClr val="dk2"/>
              </a:solidFill>
            </a:endParaRPr>
          </a:p>
          <a:p>
            <a:pPr indent="-317500" lvl="3" marL="1828800" rtl="0" algn="l">
              <a:spcBef>
                <a:spcPts val="0"/>
              </a:spcBef>
              <a:spcAft>
                <a:spcPts val="0"/>
              </a:spcAft>
              <a:buClr>
                <a:schemeClr val="dk2"/>
              </a:buClr>
              <a:buSzPts val="1400"/>
              <a:buChar char="●"/>
            </a:pPr>
            <a:r>
              <a:rPr lang="en">
                <a:solidFill>
                  <a:schemeClr val="dk2"/>
                </a:solidFill>
              </a:rPr>
              <a:t>Q8 (8 bit int), Q4 (4 bit int) leads to roughly half and quarter size respectively</a:t>
            </a:r>
            <a:endParaRPr>
              <a:solidFill>
                <a:schemeClr val="dk2"/>
              </a:solidFill>
            </a:endParaRPr>
          </a:p>
          <a:p>
            <a:pPr indent="-317500" lvl="3" marL="1828800" rtl="0" algn="l">
              <a:spcBef>
                <a:spcPts val="0"/>
              </a:spcBef>
              <a:spcAft>
                <a:spcPts val="0"/>
              </a:spcAft>
              <a:buClr>
                <a:schemeClr val="dk2"/>
              </a:buClr>
              <a:buSzPts val="1400"/>
              <a:buChar char="●"/>
            </a:pPr>
            <a:r>
              <a:rPr lang="en">
                <a:solidFill>
                  <a:schemeClr val="dk2"/>
                </a:solidFill>
              </a:rPr>
              <a:t>The trade off is reduced accuracy due to accumulated rounding error over time</a:t>
            </a:r>
            <a:endParaRPr>
              <a:solidFill>
                <a:schemeClr val="dk2"/>
              </a:solidFill>
            </a:endParaRPr>
          </a:p>
          <a:p>
            <a:pPr indent="-317500" lvl="3" marL="1828800" rtl="0" algn="l">
              <a:spcBef>
                <a:spcPts val="0"/>
              </a:spcBef>
              <a:spcAft>
                <a:spcPts val="0"/>
              </a:spcAft>
              <a:buClr>
                <a:schemeClr val="dk2"/>
              </a:buClr>
              <a:buSzPts val="1400"/>
              <a:buChar char="●"/>
            </a:pPr>
            <a:r>
              <a:rPr lang="en">
                <a:solidFill>
                  <a:schemeClr val="dk2"/>
                </a:solidFill>
              </a:rPr>
              <a:t>Finding the sweet spot of speed and accuracy</a:t>
            </a:r>
            <a:endParaRPr>
              <a:solidFill>
                <a:schemeClr val="dk2"/>
              </a:solidFill>
            </a:endParaRPr>
          </a:p>
          <a:p>
            <a:pPr indent="-317500" lvl="1" marL="914400" rtl="0" algn="l">
              <a:spcBef>
                <a:spcPts val="0"/>
              </a:spcBef>
              <a:spcAft>
                <a:spcPts val="0"/>
              </a:spcAft>
              <a:buClr>
                <a:schemeClr val="dk2"/>
              </a:buClr>
              <a:buSzPts val="1400"/>
              <a:buChar char="○"/>
            </a:pPr>
            <a:r>
              <a:rPr lang="en">
                <a:solidFill>
                  <a:schemeClr val="dk2"/>
                </a:solidFill>
              </a:rPr>
              <a:t>Context size - The amount of tokens the LLM can consider at once</a:t>
            </a:r>
            <a:endParaRPr>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Can be thought of as the models “short term memory”</a:t>
            </a:r>
            <a:endParaRPr>
              <a:solidFill>
                <a:schemeClr val="dk2"/>
              </a:solidFill>
            </a:endParaRPr>
          </a:p>
          <a:p>
            <a:pPr indent="-317500" lvl="2" marL="1371600" rtl="0" algn="l">
              <a:spcBef>
                <a:spcPts val="0"/>
              </a:spcBef>
              <a:spcAft>
                <a:spcPts val="0"/>
              </a:spcAft>
              <a:buClr>
                <a:schemeClr val="dk2"/>
              </a:buClr>
              <a:buSzPts val="1400"/>
              <a:buChar char="■"/>
            </a:pPr>
            <a:r>
              <a:rPr lang="en">
                <a:solidFill>
                  <a:schemeClr val="dk2"/>
                </a:solidFill>
              </a:rPr>
              <a:t>Directly influences required VRAM/RAM, but takes up much less space than the parameters…</a:t>
            </a:r>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type="title"/>
          </p:nvPr>
        </p:nvSpPr>
        <p:spPr>
          <a:xfrm>
            <a:off x="376800" y="430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LLM Hosting - Hardware Requirements</a:t>
            </a:r>
            <a:endParaRPr>
              <a:latin typeface="Righteous"/>
              <a:ea typeface="Righteous"/>
              <a:cs typeface="Righteous"/>
              <a:sym typeface="Righteous"/>
            </a:endParaRPr>
          </a:p>
        </p:txBody>
      </p:sp>
      <p:sp>
        <p:nvSpPr>
          <p:cNvPr id="132" name="Google Shape;132;p23"/>
          <p:cNvSpPr txBox="1"/>
          <p:nvPr/>
        </p:nvSpPr>
        <p:spPr>
          <a:xfrm>
            <a:off x="83625" y="909525"/>
            <a:ext cx="8969700" cy="4233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en" sz="1600">
                <a:solidFill>
                  <a:schemeClr val="dk2"/>
                </a:solidFill>
              </a:rPr>
              <a:t>Finding</a:t>
            </a:r>
            <a:r>
              <a:rPr lang="en" sz="1600">
                <a:solidFill>
                  <a:schemeClr val="dk2"/>
                </a:solidFill>
              </a:rPr>
              <a:t> the sweet spot of quantization savings vs loss in performance</a:t>
            </a:r>
            <a:endParaRPr sz="1600">
              <a:solidFill>
                <a:schemeClr val="dk2"/>
              </a:solidFill>
            </a:endParaRPr>
          </a:p>
          <a:p>
            <a:pPr indent="-330200" lvl="0" marL="457200" rtl="0" algn="l">
              <a:spcBef>
                <a:spcPts val="0"/>
              </a:spcBef>
              <a:spcAft>
                <a:spcPts val="0"/>
              </a:spcAft>
              <a:buClr>
                <a:schemeClr val="dk2"/>
              </a:buClr>
              <a:buSzPts val="1600"/>
              <a:buChar char="●"/>
            </a:pPr>
            <a:r>
              <a:rPr lang="en" sz="1600" u="sng">
                <a:solidFill>
                  <a:schemeClr val="hlink"/>
                </a:solidFill>
                <a:hlinkClick r:id="rId3"/>
              </a:rPr>
              <a:t>“Give Me BF16 or Give Me Death”? Accuracy-Performance Trade-Offs in LLM Quantization</a:t>
            </a:r>
            <a:endParaRPr sz="1600">
              <a:solidFill>
                <a:schemeClr val="dk2"/>
              </a:solidFill>
            </a:endParaRPr>
          </a:p>
          <a:p>
            <a:pPr indent="-330200" lvl="0" marL="457200" rtl="0" algn="l">
              <a:spcBef>
                <a:spcPts val="0"/>
              </a:spcBef>
              <a:spcAft>
                <a:spcPts val="0"/>
              </a:spcAft>
              <a:buClr>
                <a:schemeClr val="dk2"/>
              </a:buClr>
              <a:buSzPts val="1600"/>
              <a:buChar char="●"/>
            </a:pPr>
            <a:r>
              <a:rPr lang="en" sz="1600" u="sng">
                <a:solidFill>
                  <a:schemeClr val="hlink"/>
                </a:solidFill>
                <a:hlinkClick r:id="rId4"/>
              </a:rPr>
              <a:t>Open LLM Leaderboard V1</a:t>
            </a:r>
            <a:endParaRPr sz="1600">
              <a:solidFill>
                <a:schemeClr val="dk2"/>
              </a:solidFill>
            </a:endParaRPr>
          </a:p>
        </p:txBody>
      </p:sp>
      <p:pic>
        <p:nvPicPr>
          <p:cNvPr id="133" name="Google Shape;133;p23"/>
          <p:cNvPicPr preferRelativeResize="0"/>
          <p:nvPr/>
        </p:nvPicPr>
        <p:blipFill>
          <a:blip r:embed="rId5">
            <a:alphaModFix/>
          </a:blip>
          <a:stretch>
            <a:fillRect/>
          </a:stretch>
        </p:blipFill>
        <p:spPr>
          <a:xfrm>
            <a:off x="594313" y="1870709"/>
            <a:ext cx="8085574" cy="32727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type="title"/>
          </p:nvPr>
        </p:nvSpPr>
        <p:spPr>
          <a:xfrm>
            <a:off x="376800" y="430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LLM Hosting - Hardware Requirements</a:t>
            </a:r>
            <a:endParaRPr>
              <a:latin typeface="Righteous"/>
              <a:ea typeface="Righteous"/>
              <a:cs typeface="Righteous"/>
              <a:sym typeface="Righteous"/>
            </a:endParaRPr>
          </a:p>
        </p:txBody>
      </p:sp>
      <p:sp>
        <p:nvSpPr>
          <p:cNvPr id="139" name="Google Shape;139;p24"/>
          <p:cNvSpPr txBox="1"/>
          <p:nvPr/>
        </p:nvSpPr>
        <p:spPr>
          <a:xfrm>
            <a:off x="83625" y="909525"/>
            <a:ext cx="6285600" cy="4233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u="sng">
                <a:solidFill>
                  <a:schemeClr val="hlink"/>
                </a:solidFill>
                <a:hlinkClick r:id="rId3"/>
              </a:rPr>
              <a:t>HuggingFace LLM VRAM Calculator</a:t>
            </a:r>
            <a:endParaRPr sz="18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Given a model, context size, and quantization</a:t>
            </a:r>
            <a:endParaRPr sz="1600">
              <a:solidFill>
                <a:schemeClr val="dk2"/>
              </a:solidFill>
            </a:endParaRPr>
          </a:p>
          <a:p>
            <a:pPr indent="-330200" lvl="2" marL="1371600" rtl="0" algn="l">
              <a:spcBef>
                <a:spcPts val="0"/>
              </a:spcBef>
              <a:spcAft>
                <a:spcPts val="0"/>
              </a:spcAft>
              <a:buClr>
                <a:schemeClr val="dk2"/>
              </a:buClr>
              <a:buSzPts val="1600"/>
              <a:buChar char="■"/>
            </a:pPr>
            <a:r>
              <a:rPr lang="en" sz="1600">
                <a:solidFill>
                  <a:schemeClr val="dk2"/>
                </a:solidFill>
              </a:rPr>
              <a:t>And other things (quant format, batch size, etc)</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Estimate the total VRAM required to run the model</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Roughly</a:t>
            </a:r>
            <a:r>
              <a:rPr lang="en" sz="1600">
                <a:solidFill>
                  <a:schemeClr val="dk2"/>
                </a:solidFill>
              </a:rPr>
              <a:t> equal to:</a:t>
            </a:r>
            <a:endParaRPr sz="1600">
              <a:solidFill>
                <a:schemeClr val="dk2"/>
              </a:solidFill>
            </a:endParaRPr>
          </a:p>
          <a:p>
            <a:pPr indent="-330200" lvl="2" marL="1371600" rtl="0" algn="l">
              <a:spcBef>
                <a:spcPts val="0"/>
              </a:spcBef>
              <a:spcAft>
                <a:spcPts val="0"/>
              </a:spcAft>
              <a:buClr>
                <a:schemeClr val="dk2"/>
              </a:buClr>
              <a:buSzPts val="1600"/>
              <a:buChar char="■"/>
            </a:pPr>
            <a:r>
              <a:rPr lang="en" sz="1600">
                <a:solidFill>
                  <a:schemeClr val="dk2"/>
                </a:solidFill>
              </a:rPr>
              <a:t>(number of parameters * bytes/parameter) + (context size in number of tokens * bytes/token)</a:t>
            </a:r>
            <a:endParaRPr sz="16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technology is changing all the time, and there does not seem to be many standard forming</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Common advice in forums and tutorials:</a:t>
            </a:r>
            <a:endParaRPr sz="18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“Try and run it, if its too slow or you get Out-Of-Memory errors downsize </a:t>
            </a:r>
            <a:r>
              <a:rPr lang="en" sz="1600">
                <a:solidFill>
                  <a:schemeClr val="dk2"/>
                </a:solidFill>
              </a:rPr>
              <a:t>quantization</a:t>
            </a:r>
            <a:r>
              <a:rPr lang="en" sz="1600">
                <a:solidFill>
                  <a:schemeClr val="dk2"/>
                </a:solidFill>
              </a:rPr>
              <a:t> or number of </a:t>
            </a:r>
            <a:r>
              <a:rPr lang="en" sz="1600">
                <a:solidFill>
                  <a:schemeClr val="dk2"/>
                </a:solidFill>
              </a:rPr>
              <a:t>parameters and try again.”</a:t>
            </a:r>
            <a:endParaRPr sz="1600">
              <a:solidFill>
                <a:schemeClr val="dk2"/>
              </a:solidFill>
            </a:endParaRPr>
          </a:p>
          <a:p>
            <a:pPr indent="-330200" lvl="1" marL="914400" rtl="0" algn="l">
              <a:spcBef>
                <a:spcPts val="0"/>
              </a:spcBef>
              <a:spcAft>
                <a:spcPts val="0"/>
              </a:spcAft>
              <a:buClr>
                <a:schemeClr val="dk2"/>
              </a:buClr>
              <a:buSzPts val="1600"/>
              <a:buChar char="○"/>
            </a:pPr>
            <a:r>
              <a:rPr lang="en" sz="1600" u="sng">
                <a:solidFill>
                  <a:schemeClr val="hlink"/>
                </a:solidFill>
                <a:hlinkClick r:id="rId4"/>
              </a:rPr>
              <a:t>This plan can be assisted with container resource constraints during development</a:t>
            </a:r>
            <a:endParaRPr sz="16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40" name="Google Shape;140;p24"/>
          <p:cNvPicPr preferRelativeResize="0"/>
          <p:nvPr/>
        </p:nvPicPr>
        <p:blipFill>
          <a:blip r:embed="rId5">
            <a:alphaModFix/>
          </a:blip>
          <a:stretch>
            <a:fillRect/>
          </a:stretch>
        </p:blipFill>
        <p:spPr>
          <a:xfrm>
            <a:off x="6369300" y="29750"/>
            <a:ext cx="2638775" cy="50840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76800" y="4305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LLM Hosting - Hardware Requirements</a:t>
            </a:r>
            <a:endParaRPr>
              <a:latin typeface="Righteous"/>
              <a:ea typeface="Righteous"/>
              <a:cs typeface="Righteous"/>
              <a:sym typeface="Righteous"/>
            </a:endParaRPr>
          </a:p>
        </p:txBody>
      </p:sp>
      <p:sp>
        <p:nvSpPr>
          <p:cNvPr id="146" name="Google Shape;146;p25"/>
          <p:cNvSpPr txBox="1"/>
          <p:nvPr/>
        </p:nvSpPr>
        <p:spPr>
          <a:xfrm>
            <a:off x="0" y="909525"/>
            <a:ext cx="2526600" cy="4233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600">
                <a:solidFill>
                  <a:schemeClr val="dk2"/>
                </a:solidFill>
              </a:rPr>
              <a:t>Scales by number of parameters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Y-intercept is context size</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Models tend to come in common sizes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Consumer sizes</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2B</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4B</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8B</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Enterprise sizes</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35B</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70B</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397B</a:t>
            </a:r>
            <a:endParaRPr sz="1600">
              <a:solidFill>
                <a:schemeClr val="dk2"/>
              </a:solidFill>
            </a:endParaRPr>
          </a:p>
          <a:p>
            <a:pPr indent="-330200" lvl="1" marL="914400" rtl="0" algn="l">
              <a:spcBef>
                <a:spcPts val="0"/>
              </a:spcBef>
              <a:spcAft>
                <a:spcPts val="0"/>
              </a:spcAft>
              <a:buClr>
                <a:schemeClr val="dk2"/>
              </a:buClr>
              <a:buSzPts val="1600"/>
              <a:buChar char="○"/>
            </a:pPr>
            <a:r>
              <a:rPr lang="en" sz="1600">
                <a:solidFill>
                  <a:schemeClr val="dk2"/>
                </a:solidFill>
              </a:rPr>
              <a:t>They grow fast..</a:t>
            </a:r>
            <a:endParaRPr sz="16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147" name="Google Shape;147;p25"/>
          <p:cNvPicPr preferRelativeResize="0"/>
          <p:nvPr/>
        </p:nvPicPr>
        <p:blipFill>
          <a:blip r:embed="rId3">
            <a:alphaModFix/>
          </a:blip>
          <a:stretch>
            <a:fillRect/>
          </a:stretch>
        </p:blipFill>
        <p:spPr>
          <a:xfrm>
            <a:off x="2526475" y="1043500"/>
            <a:ext cx="6617527" cy="3965950"/>
          </a:xfrm>
          <a:prstGeom prst="rect">
            <a:avLst/>
          </a:prstGeom>
          <a:noFill/>
          <a:ln>
            <a:noFill/>
          </a:ln>
        </p:spPr>
      </p:pic>
      <p:sp>
        <p:nvSpPr>
          <p:cNvPr id="148" name="Google Shape;148;p25"/>
          <p:cNvSpPr txBox="1"/>
          <p:nvPr/>
        </p:nvSpPr>
        <p:spPr>
          <a:xfrm>
            <a:off x="2893700" y="1403425"/>
            <a:ext cx="5129100" cy="40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FF0000"/>
                </a:solidFill>
              </a:rPr>
              <a:t>Y = (parameter size * # of parameters) + context size</a:t>
            </a:r>
            <a:endParaRPr sz="160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ighteous"/>
                <a:ea typeface="Righteous"/>
                <a:cs typeface="Righteous"/>
                <a:sym typeface="Righteous"/>
              </a:rPr>
              <a:t>Questions for Client</a:t>
            </a:r>
            <a:endParaRPr>
              <a:latin typeface="Righteous"/>
              <a:ea typeface="Righteous"/>
              <a:cs typeface="Righteous"/>
              <a:sym typeface="Righteous"/>
            </a:endParaRPr>
          </a:p>
        </p:txBody>
      </p:sp>
      <p:sp>
        <p:nvSpPr>
          <p:cNvPr id="154" name="Google Shape;15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is an acceptable response time for queries?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Are there any constraints we should be aware of like cloud budget limits, that would affect which models we can realistically deploy?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