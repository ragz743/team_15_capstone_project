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Alexandria Bold" charset="1" panose="00000000000000000000"/>
      <p:regular r:id="rId40"/>
    </p:embeddedFont>
    <p:embeddedFont>
      <p:font typeface="Helios Extended Bold" charset="1" panose="02000805050000020004"/>
      <p:regular r:id="rId41"/>
    </p:embeddedFont>
    <p:embeddedFont>
      <p:font typeface="Montserrat Bold" charset="1" panose="00000800000000000000"/>
      <p:regular r:id="rId42"/>
    </p:embeddedFont>
    <p:embeddedFont>
      <p:font typeface="Montserrat" charset="1" panose="00000500000000000000"/>
      <p:regular r:id="rId44"/>
    </p:embeddedFont>
    <p:embeddedFont>
      <p:font typeface="Montserrat Ultra-Bold" charset="1" panose="00000900000000000000"/>
      <p:regular r:id="rId54"/>
    </p:embeddedFont>
    <p:embeddedFont>
      <p:font typeface="Montserrat Bold Italics" charset="1" panose="00000800000000000000"/>
      <p:regular r:id="rId70"/>
    </p:embeddedFont>
    <p:embeddedFont>
      <p:font typeface="Montserrat Italics" charset="1" panose="00000500000000000000"/>
      <p:regular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notesMasters/notesMaster1.xml" Type="http://schemas.openxmlformats.org/officeDocument/2006/relationships/notesMaster"/><Relationship Id="rId38" Target="theme/theme2.xml" Type="http://schemas.openxmlformats.org/officeDocument/2006/relationships/theme"/><Relationship Id="rId39" Target="notesSlides/notesSlide1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notesSlides/notesSlide2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3.xml" Type="http://schemas.openxmlformats.org/officeDocument/2006/relationships/notesSlide"/><Relationship Id="rId46" Target="notesSlides/notesSlide4.xml" Type="http://schemas.openxmlformats.org/officeDocument/2006/relationships/notesSlide"/><Relationship Id="rId47" Target="notesSlides/notesSlide5.xml" Type="http://schemas.openxmlformats.org/officeDocument/2006/relationships/notesSlide"/><Relationship Id="rId48" Target="notesSlides/notesSlide6.xml" Type="http://schemas.openxmlformats.org/officeDocument/2006/relationships/notesSlide"/><Relationship Id="rId49" Target="notesSlides/notesSlide7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8.xml" Type="http://schemas.openxmlformats.org/officeDocument/2006/relationships/notesSlide"/><Relationship Id="rId51" Target="notesSlides/notesSlide9.xml" Type="http://schemas.openxmlformats.org/officeDocument/2006/relationships/notesSlide"/><Relationship Id="rId52" Target="notesSlides/notesSlide10.xml" Type="http://schemas.openxmlformats.org/officeDocument/2006/relationships/notesSlide"/><Relationship Id="rId53" Target="notesSlides/notesSlide11.xml" Type="http://schemas.openxmlformats.org/officeDocument/2006/relationships/notesSlide"/><Relationship Id="rId54" Target="fonts/font54.fntdata" Type="http://schemas.openxmlformats.org/officeDocument/2006/relationships/font"/><Relationship Id="rId55" Target="notesSlides/notesSlide12.xml" Type="http://schemas.openxmlformats.org/officeDocument/2006/relationships/notesSlide"/><Relationship Id="rId56" Target="notesSlides/notesSlide13.xml" Type="http://schemas.openxmlformats.org/officeDocument/2006/relationships/notesSlide"/><Relationship Id="rId57" Target="notesSlides/notesSlide14.xml" Type="http://schemas.openxmlformats.org/officeDocument/2006/relationships/notesSlide"/><Relationship Id="rId58" Target="notesSlides/notesSlide15.xml" Type="http://schemas.openxmlformats.org/officeDocument/2006/relationships/notesSlide"/><Relationship Id="rId59" Target="notesSlides/notesSlide16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7.xml" Type="http://schemas.openxmlformats.org/officeDocument/2006/relationships/notesSlide"/><Relationship Id="rId61" Target="notesSlides/notesSlide18.xml" Type="http://schemas.openxmlformats.org/officeDocument/2006/relationships/notesSlide"/><Relationship Id="rId62" Target="notesSlides/notesSlide19.xml" Type="http://schemas.openxmlformats.org/officeDocument/2006/relationships/notesSlide"/><Relationship Id="rId63" Target="notesSlides/notesSlide20.xml" Type="http://schemas.openxmlformats.org/officeDocument/2006/relationships/notesSlide"/><Relationship Id="rId64" Target="notesSlides/notesSlide21.xml" Type="http://schemas.openxmlformats.org/officeDocument/2006/relationships/notesSlide"/><Relationship Id="rId65" Target="notesSlides/notesSlide22.xml" Type="http://schemas.openxmlformats.org/officeDocument/2006/relationships/notesSlide"/><Relationship Id="rId66" Target="notesSlides/notesSlide23.xml" Type="http://schemas.openxmlformats.org/officeDocument/2006/relationships/notesSlide"/><Relationship Id="rId67" Target="notesSlides/notesSlide24.xml" Type="http://schemas.openxmlformats.org/officeDocument/2006/relationships/notesSlide"/><Relationship Id="rId68" Target="notesSlides/notesSlide25.xml" Type="http://schemas.openxmlformats.org/officeDocument/2006/relationships/notesSlide"/><Relationship Id="rId69" Target="notesSlides/notesSlide26.xml" Type="http://schemas.openxmlformats.org/officeDocument/2006/relationships/notesSlide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72" Target="notesSlides/notesSlide27.xml" Type="http://schemas.openxmlformats.org/officeDocument/2006/relationships/notesSlide"/><Relationship Id="rId73" Target="notesSlides/notesSlide28.xml" Type="http://schemas.openxmlformats.org/officeDocument/2006/relationships/notesSlide"/><Relationship Id="rId74" Target="notesSlides/notesSlide29.xml" Type="http://schemas.openxmlformats.org/officeDocument/2006/relationships/notesSlide"/><Relationship Id="rId75" Target="notesSlides/notesSlide30.xml" Type="http://schemas.openxmlformats.org/officeDocument/2006/relationships/notesSlide"/><Relationship Id="rId76" Target="notesSlides/notesSlide31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Danbi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All of us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Danbi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Danbi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Danbi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Zuriel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Sai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Gavin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787891" y="2017067"/>
            <a:ext cx="0" cy="2136120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973629" y="1934055"/>
            <a:ext cx="6490990" cy="22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5"/>
              </a:lnSpc>
            </a:pPr>
            <a:r>
              <a:rPr lang="en-US" sz="7449" spc="-528" b="true">
                <a:solidFill>
                  <a:srgbClr val="0B6E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AgWeatherNet</a:t>
            </a:r>
          </a:p>
          <a:p>
            <a:pPr algn="l">
              <a:lnSpc>
                <a:spcPts val="8715"/>
              </a:lnSpc>
            </a:pPr>
            <a:r>
              <a:rPr lang="en-US" sz="7449" spc="-528" b="true">
                <a:solidFill>
                  <a:srgbClr val="0B6E69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 Chatbot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9111" y="2013225"/>
            <a:ext cx="398794" cy="190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638" b="true">
                <a:solidFill>
                  <a:srgbClr val="0B6E69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CPTS 421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294361" y="4765017"/>
            <a:ext cx="5006954" cy="0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294361" y="5834013"/>
            <a:ext cx="5006954" cy="0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248575" y="5086085"/>
            <a:ext cx="4997429" cy="39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47"/>
              </a:lnSpc>
            </a:pPr>
            <a:r>
              <a:rPr lang="en-US" b="true" sz="2319" spc="-109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 Team 15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9104" y="3019885"/>
            <a:ext cx="5051075" cy="1363806"/>
            <a:chOff x="0" y="0"/>
            <a:chExt cx="1330324" cy="359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9104" y="4643006"/>
            <a:ext cx="5051075" cy="1363806"/>
            <a:chOff x="0" y="0"/>
            <a:chExt cx="1330324" cy="3591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6618463" y="3019885"/>
            <a:ext cx="5051075" cy="1363806"/>
            <a:chOff x="0" y="0"/>
            <a:chExt cx="1330324" cy="3591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18463" y="4643006"/>
            <a:ext cx="5051075" cy="1363806"/>
            <a:chOff x="0" y="0"/>
            <a:chExt cx="1330324" cy="3591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2410950" y="3469253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2410950" y="5092374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760309" y="3469253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7760309" y="5092374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967821" y="3019885"/>
            <a:ext cx="5051075" cy="1363806"/>
            <a:chOff x="0" y="0"/>
            <a:chExt cx="1330324" cy="3591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67821" y="4643006"/>
            <a:ext cx="5051075" cy="1363806"/>
            <a:chOff x="0" y="0"/>
            <a:chExt cx="1330324" cy="3591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3109667" y="3469253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109667" y="5092374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8075940" y="1402378"/>
            <a:ext cx="2136120" cy="0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2682413" y="3446435"/>
            <a:ext cx="2769309" cy="46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5"/>
              </a:lnSpc>
              <a:spcBef>
                <a:spcPct val="0"/>
              </a:spcBef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82413" y="5088669"/>
            <a:ext cx="3088325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Documentation of US, UC and UML Diagrams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31771" y="3446435"/>
            <a:ext cx="2769309" cy="46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5"/>
              </a:lnSpc>
              <a:spcBef>
                <a:spcPct val="0"/>
              </a:spcBef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Sprint Objectives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31771" y="4941032"/>
            <a:ext cx="2769309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Installation and Evaluation of Existing Solution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17061" y="3577971"/>
            <a:ext cx="302568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17061" y="5201092"/>
            <a:ext cx="391269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66419" y="3577971"/>
            <a:ext cx="363736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166419" y="5201092"/>
            <a:ext cx="363141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81129" y="3433183"/>
            <a:ext cx="2769309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Requirements Gathering Process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81129" y="5056304"/>
            <a:ext cx="3333500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Kanban Overview &amp; Team Contribution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15778" y="3577971"/>
            <a:ext cx="362545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15778" y="5201092"/>
            <a:ext cx="375940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name="TextBox 40" id="40"/>
          <p:cNvSpPr txBox="true"/>
          <p:nvPr/>
        </p:nvSpPr>
        <p:spPr>
          <a:xfrm rot="-5400000">
            <a:off x="8952707" y="727964"/>
            <a:ext cx="401636" cy="213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9"/>
              </a:lnSpc>
            </a:pPr>
            <a:r>
              <a:rPr lang="en-US" b="true" sz="2638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69104" y="6263987"/>
            <a:ext cx="5051075" cy="1363806"/>
            <a:chOff x="0" y="0"/>
            <a:chExt cx="1330324" cy="3591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18463" y="6263987"/>
            <a:ext cx="5051075" cy="1363806"/>
            <a:chOff x="0" y="0"/>
            <a:chExt cx="1330324" cy="3591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>
            <a:off x="2410950" y="6713356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7760309" y="6713356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11967821" y="6263987"/>
            <a:ext cx="5051075" cy="1363806"/>
            <a:chOff x="0" y="0"/>
            <a:chExt cx="1330324" cy="3591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AutoShape 52" id="52"/>
          <p:cNvSpPr/>
          <p:nvPr/>
        </p:nvSpPr>
        <p:spPr>
          <a:xfrm>
            <a:off x="13109667" y="6713356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3" id="53"/>
          <p:cNvSpPr txBox="true"/>
          <p:nvPr/>
        </p:nvSpPr>
        <p:spPr>
          <a:xfrm rot="0">
            <a:off x="2682413" y="6677286"/>
            <a:ext cx="2769309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Feature Demonstration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031771" y="6709651"/>
            <a:ext cx="3260275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Skills Identification and Learning Process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817061" y="6822074"/>
            <a:ext cx="369987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166419" y="6822074"/>
            <a:ext cx="384423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381129" y="6677286"/>
            <a:ext cx="2769309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Sprint Achievements and Challenges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515778" y="6822074"/>
            <a:ext cx="375940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269104" y="7884969"/>
            <a:ext cx="5051075" cy="1363806"/>
            <a:chOff x="0" y="0"/>
            <a:chExt cx="1330324" cy="3591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618463" y="7884969"/>
            <a:ext cx="5051075" cy="1363806"/>
            <a:chOff x="0" y="0"/>
            <a:chExt cx="1330324" cy="3591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AutoShape 65" id="65"/>
          <p:cNvSpPr/>
          <p:nvPr/>
        </p:nvSpPr>
        <p:spPr>
          <a:xfrm>
            <a:off x="2410950" y="8334337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7760309" y="8334337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11967821" y="7884969"/>
            <a:ext cx="5051075" cy="1363806"/>
            <a:chOff x="0" y="0"/>
            <a:chExt cx="1330324" cy="3591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30324" cy="359192"/>
            </a:xfrm>
            <a:custGeom>
              <a:avLst/>
              <a:gdLst/>
              <a:ahLst/>
              <a:cxnLst/>
              <a:rect r="r" b="b" t="t" l="l"/>
              <a:pathLst>
                <a:path h="359192" w="1330324">
                  <a:moveTo>
                    <a:pt x="45982" y="0"/>
                  </a:moveTo>
                  <a:lnTo>
                    <a:pt x="1284342" y="0"/>
                  </a:lnTo>
                  <a:cubicBezTo>
                    <a:pt x="1309737" y="0"/>
                    <a:pt x="1330324" y="20587"/>
                    <a:pt x="1330324" y="45982"/>
                  </a:cubicBezTo>
                  <a:lnTo>
                    <a:pt x="1330324" y="313210"/>
                  </a:lnTo>
                  <a:cubicBezTo>
                    <a:pt x="1330324" y="325405"/>
                    <a:pt x="1325480" y="337101"/>
                    <a:pt x="1316856" y="345724"/>
                  </a:cubicBezTo>
                  <a:cubicBezTo>
                    <a:pt x="1308233" y="354347"/>
                    <a:pt x="1296538" y="359192"/>
                    <a:pt x="1284342" y="359192"/>
                  </a:cubicBezTo>
                  <a:lnTo>
                    <a:pt x="45982" y="359192"/>
                  </a:lnTo>
                  <a:cubicBezTo>
                    <a:pt x="33787" y="359192"/>
                    <a:pt x="22091" y="354347"/>
                    <a:pt x="13468" y="345724"/>
                  </a:cubicBezTo>
                  <a:cubicBezTo>
                    <a:pt x="4844" y="337101"/>
                    <a:pt x="0" y="325405"/>
                    <a:pt x="0" y="313210"/>
                  </a:cubicBezTo>
                  <a:lnTo>
                    <a:pt x="0" y="45982"/>
                  </a:lnTo>
                  <a:cubicBezTo>
                    <a:pt x="0" y="33787"/>
                    <a:pt x="4844" y="22091"/>
                    <a:pt x="13468" y="13468"/>
                  </a:cubicBezTo>
                  <a:cubicBezTo>
                    <a:pt x="22091" y="4844"/>
                    <a:pt x="33787" y="0"/>
                    <a:pt x="459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04775"/>
              <a:ext cx="1330324" cy="463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AutoShape 70" id="70"/>
          <p:cNvSpPr/>
          <p:nvPr/>
        </p:nvSpPr>
        <p:spPr>
          <a:xfrm>
            <a:off x="13109667" y="8334337"/>
            <a:ext cx="0" cy="452655"/>
          </a:xfrm>
          <a:prstGeom prst="line">
            <a:avLst/>
          </a:prstGeom>
          <a:ln cap="flat" w="9525">
            <a:solidFill>
              <a:srgbClr val="0B6E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1" id="71"/>
          <p:cNvSpPr txBox="true"/>
          <p:nvPr/>
        </p:nvSpPr>
        <p:spPr>
          <a:xfrm rot="0">
            <a:off x="2682413" y="8311518"/>
            <a:ext cx="2939189" cy="46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5"/>
              </a:lnSpc>
              <a:spcBef>
                <a:spcPct val="0"/>
              </a:spcBef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Responsible Use of AI 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031771" y="8298267"/>
            <a:ext cx="2769309" cy="5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9"/>
              </a:lnSpc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Next Steps and Sprint Retrospective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817061" y="8443055"/>
            <a:ext cx="302568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166419" y="8443055"/>
            <a:ext cx="213568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381129" y="8311518"/>
            <a:ext cx="2769309" cy="46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5"/>
              </a:lnSpc>
              <a:spcBef>
                <a:spcPct val="0"/>
              </a:spcBef>
            </a:pPr>
            <a:r>
              <a:rPr lang="en-US" sz="2399" spc="-206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515778" y="8443055"/>
            <a:ext cx="274737" cy="33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4"/>
              </a:lnSpc>
            </a:pPr>
            <a:r>
              <a:rPr lang="en-US" sz="2328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6878276" cy="7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01. Introduction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678813"/>
            <a:ext cx="16230600" cy="860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Overview:</a:t>
            </a: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Our project focuses on designing and developing an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AI chatbot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that enables users to access AgWeatherNet data through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queries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The goal is to simplify how agricultural stakeholders retrieve weather information by replacing complex data navigation with an intuitive conversational interface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 previous implementation of the AI chatbot failed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The AgWeatherNet platform is not user-friendly for farmers or non-technical users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Develop the AI chatbot using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Retrieval-Augmented Generation (RAG)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to provide accurate, real-time, and contextual weather insights</a:t>
            </a:r>
          </a:p>
          <a:p>
            <a:pPr algn="ctr">
              <a:lnSpc>
                <a:spcPts val="54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51545" y="1098644"/>
            <a:ext cx="6878276" cy="7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01. 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38511"/>
            <a:ext cx="16230600" cy="7160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5759"/>
              </a:lnSpc>
              <a:buFont typeface="Arial"/>
              <a:buChar char="•"/>
            </a:pPr>
            <a:r>
              <a:rPr lang="en-US" b="true" sz="3199" spc="-19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Introduction: </a:t>
            </a:r>
          </a:p>
          <a:p>
            <a:pPr algn="l" marL="1381758" indent="-460586" lvl="2">
              <a:lnSpc>
                <a:spcPts val="5759"/>
              </a:lnSpc>
              <a:buFont typeface="Arial"/>
              <a:buChar char="⚬"/>
            </a:pPr>
            <a:r>
              <a:rPr lang="en-US" b="true" sz="3199" spc="-19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Sairaghav Gubba</a:t>
            </a:r>
            <a:r>
              <a:rPr lang="en-US" sz="3199" spc="-19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Senior student majoring in Computer Science at Washington State University</a:t>
            </a:r>
          </a:p>
          <a:p>
            <a:pPr algn="l" marL="1381758" indent="-460586" lvl="2">
              <a:lnSpc>
                <a:spcPts val="5759"/>
              </a:lnSpc>
              <a:buFont typeface="Arial"/>
              <a:buChar char="⚬"/>
            </a:pPr>
            <a:r>
              <a:rPr lang="en-US" b="true" sz="3199" spc="-19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Zuriel Hernandez</a:t>
            </a:r>
            <a:r>
              <a:rPr lang="en-US" sz="3199" spc="-19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Senior student majoring in Computer Science at Washington State University, interested in AI/ML and building sports analytics pipelines</a:t>
            </a:r>
          </a:p>
          <a:p>
            <a:pPr algn="l" marL="1381758" indent="-460586" lvl="2">
              <a:lnSpc>
                <a:spcPts val="5759"/>
              </a:lnSpc>
              <a:buFont typeface="Arial"/>
              <a:buChar char="⚬"/>
            </a:pPr>
            <a:r>
              <a:rPr lang="en-US" b="true" sz="3199" spc="-19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Danbi Kim</a:t>
            </a:r>
            <a:r>
              <a:rPr lang="en-US" sz="3199" spc="-19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Senior student majoring in Computer Science at Washington State University, interested in web development</a:t>
            </a:r>
          </a:p>
          <a:p>
            <a:pPr algn="l" marL="1381758" indent="-460586" lvl="2">
              <a:lnSpc>
                <a:spcPts val="5759"/>
              </a:lnSpc>
              <a:buFont typeface="Arial"/>
              <a:buChar char="⚬"/>
            </a:pPr>
            <a:r>
              <a:rPr lang="en-US" b="true" sz="3199" spc="-19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Gavin Travis</a:t>
            </a:r>
            <a:r>
              <a:rPr lang="en-US" sz="3199" spc="-19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Computer Science Senior, interested in systems programming, parallel computing, and data engineering</a:t>
            </a:r>
          </a:p>
          <a:p>
            <a:pPr algn="ctr">
              <a:lnSpc>
                <a:spcPts val="54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51545" y="1098644"/>
            <a:ext cx="6878276" cy="7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01. 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37835"/>
            <a:ext cx="14648719" cy="645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1 Objectives: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Establish a strong foundation for the project before development begins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Gather and refine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Functional Requirements (FRs)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Non-Functional Requirements (NFRs)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from stakeholders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Create core documentation, including user stories, use cases, and UML diagrams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Define the initial system structure and project scope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Identify the tech stack (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React, Python, MySQL, AWS, RAG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Begin prototype planning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51545" y="1098644"/>
            <a:ext cx="6878276" cy="7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01. 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237835"/>
            <a:ext cx="14327836" cy="572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Exploration: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Front-end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React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for building a responsive and interactive user interface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Back-end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for server-side logic and API development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MySQL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for storing weather data and system information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AWS EC2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instance for hosting and running the application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Implementation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Retrieval-Augmented Generation (RAG)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to enable the chatbot to retrieve and generate accurate weather data responses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51545" y="1098644"/>
            <a:ext cx="6878276" cy="7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02. Sprint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82165"/>
            <a:ext cx="14327836" cy="71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1 Goals: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Collect and clarify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client requirements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to understand the system’s expected functionality and constraints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Develop core design documentation, including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user stories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use cases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UML diagrams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valuate any existing systems related to the project to understand previous approaches and limitations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Identify and begin learning the full-stack technologies required for implementation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Begin initial development and setup for key system components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0527671" cy="7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03. Requirements Gathering Process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082165"/>
            <a:ext cx="15494456" cy="71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 Meetings: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Conducted weekly meetings via Microsoft Teams every Wednesday at 1:30 PM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Held brief internal team discussions before each meeting to prepare questions and align on goals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Followed up with short team meetings after each session to review feedback and refine requirements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Methods Used: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Direct client discussions to understand system needs and expectations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Iterative clarification through follow-up questions and feedback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Collaborative team analysis to translate client input into structured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0527671" cy="7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03. Requirements Gathering Process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082165"/>
            <a:ext cx="15871966" cy="645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Meeting Overview: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client meetings were conducted throughout Sprint 1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Key portions of these meetings highlight requirement clarification and system expectations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Requirements Identified: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Enable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querying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of AgWeatherNet data through an AI chatbot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Ensure accurate and r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elevant data retrieval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for users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Design a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scalable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maintainable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system architecture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Provide a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user-friendly interface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for efficient interaction with the system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0527671" cy="724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03. Requirements Gathering Process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73485" y="2016406"/>
            <a:ext cx="7358135" cy="4393919"/>
          </a:xfrm>
          <a:custGeom>
            <a:avLst/>
            <a:gdLst/>
            <a:ahLst/>
            <a:cxnLst/>
            <a:rect r="r" b="b" t="t" l="l"/>
            <a:pathLst>
              <a:path h="4393919" w="7358135">
                <a:moveTo>
                  <a:pt x="0" y="0"/>
                </a:moveTo>
                <a:lnTo>
                  <a:pt x="7358135" y="0"/>
                </a:lnTo>
                <a:lnTo>
                  <a:pt x="7358135" y="4393919"/>
                </a:lnTo>
                <a:lnTo>
                  <a:pt x="0" y="4393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52" t="-8630" r="-5559" b="-243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38377" y="2016406"/>
            <a:ext cx="7651241" cy="4393919"/>
          </a:xfrm>
          <a:custGeom>
            <a:avLst/>
            <a:gdLst/>
            <a:ahLst/>
            <a:cxnLst/>
            <a:rect r="r" b="b" t="t" l="l"/>
            <a:pathLst>
              <a:path h="4393919" w="7651241">
                <a:moveTo>
                  <a:pt x="0" y="0"/>
                </a:moveTo>
                <a:lnTo>
                  <a:pt x="7651241" y="0"/>
                </a:lnTo>
                <a:lnTo>
                  <a:pt x="7651241" y="4393919"/>
                </a:lnTo>
                <a:lnTo>
                  <a:pt x="0" y="4393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41" t="-2949" r="-2829" b="-231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07368" y="6591300"/>
            <a:ext cx="10048505" cy="2667000"/>
          </a:xfrm>
          <a:custGeom>
            <a:avLst/>
            <a:gdLst/>
            <a:ahLst/>
            <a:cxnLst/>
            <a:rect r="r" b="b" t="t" l="l"/>
            <a:pathLst>
              <a:path h="2667000" w="10048505">
                <a:moveTo>
                  <a:pt x="0" y="0"/>
                </a:moveTo>
                <a:lnTo>
                  <a:pt x="10048505" y="0"/>
                </a:lnTo>
                <a:lnTo>
                  <a:pt x="10048505" y="2667000"/>
                </a:lnTo>
                <a:lnTo>
                  <a:pt x="0" y="266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007" t="-15199" r="0" b="-2359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6007755" cy="7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7"/>
              </a:lnSpc>
            </a:pPr>
            <a:r>
              <a:rPr lang="en-US" sz="5070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04. Documentation of User Stories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297238" y="1823344"/>
            <a:ext cx="9693524" cy="8275846"/>
          </a:xfrm>
          <a:custGeom>
            <a:avLst/>
            <a:gdLst/>
            <a:ahLst/>
            <a:cxnLst/>
            <a:rect r="r" b="b" t="t" l="l"/>
            <a:pathLst>
              <a:path h="8275846" w="9693524">
                <a:moveTo>
                  <a:pt x="0" y="0"/>
                </a:moveTo>
                <a:lnTo>
                  <a:pt x="9693524" y="0"/>
                </a:lnTo>
                <a:lnTo>
                  <a:pt x="9693524" y="8275847"/>
                </a:lnTo>
                <a:lnTo>
                  <a:pt x="0" y="8275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6007755" cy="7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7"/>
              </a:lnSpc>
            </a:pPr>
            <a:r>
              <a:rPr lang="en-US" sz="5070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04. Documentation of User Stories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411978" y="1823344"/>
            <a:ext cx="7464044" cy="8316484"/>
          </a:xfrm>
          <a:custGeom>
            <a:avLst/>
            <a:gdLst/>
            <a:ahLst/>
            <a:cxnLst/>
            <a:rect r="r" b="b" t="t" l="l"/>
            <a:pathLst>
              <a:path h="8316484" w="7464044">
                <a:moveTo>
                  <a:pt x="0" y="0"/>
                </a:moveTo>
                <a:lnTo>
                  <a:pt x="7464044" y="0"/>
                </a:lnTo>
                <a:lnTo>
                  <a:pt x="7464044" y="8316484"/>
                </a:lnTo>
                <a:lnTo>
                  <a:pt x="0" y="8316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6007755" cy="7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7"/>
              </a:lnSpc>
            </a:pPr>
            <a:r>
              <a:rPr lang="en-US" sz="5070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04. Documentation of User Stories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062837" y="1823344"/>
            <a:ext cx="8162326" cy="8318294"/>
          </a:xfrm>
          <a:custGeom>
            <a:avLst/>
            <a:gdLst/>
            <a:ahLst/>
            <a:cxnLst/>
            <a:rect r="r" b="b" t="t" l="l"/>
            <a:pathLst>
              <a:path h="8318294" w="8162326">
                <a:moveTo>
                  <a:pt x="0" y="0"/>
                </a:moveTo>
                <a:lnTo>
                  <a:pt x="8162326" y="0"/>
                </a:lnTo>
                <a:lnTo>
                  <a:pt x="8162326" y="8318294"/>
                </a:lnTo>
                <a:lnTo>
                  <a:pt x="0" y="8318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6007755" cy="7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7"/>
              </a:lnSpc>
            </a:pPr>
            <a:r>
              <a:rPr lang="en-US" sz="5070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04. Documentation of Use Cases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965986" y="2007870"/>
            <a:ext cx="7293314" cy="7389640"/>
          </a:xfrm>
          <a:custGeom>
            <a:avLst/>
            <a:gdLst/>
            <a:ahLst/>
            <a:cxnLst/>
            <a:rect r="r" b="b" t="t" l="l"/>
            <a:pathLst>
              <a:path h="7389640" w="7293314">
                <a:moveTo>
                  <a:pt x="0" y="0"/>
                </a:moveTo>
                <a:lnTo>
                  <a:pt x="7293314" y="0"/>
                </a:lnTo>
                <a:lnTo>
                  <a:pt x="7293314" y="7389640"/>
                </a:lnTo>
                <a:lnTo>
                  <a:pt x="0" y="7389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39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826895"/>
            <a:ext cx="8571280" cy="645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actors: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Farmers, Researchers, Administrators, Developers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user goal: 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sk weather questions in natural language and receive accurate answers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Use cases help define system behaviour, alternative flows, and related requirements</a:t>
            </a:r>
          </a:p>
          <a:p>
            <a:pPr algn="l">
              <a:lnSpc>
                <a:spcPts val="576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6007755" cy="7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7"/>
              </a:lnSpc>
            </a:pPr>
            <a:r>
              <a:rPr lang="en-US" sz="5070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04. Documentation of UML Diagrams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251545" y="1761397"/>
            <a:ext cx="13927760" cy="7900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</a:t>
            </a: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ors: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Farmers, Researchers, System Administrators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Precondition: 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User is logged into AgWeatherNet and chatbot is open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Basic flow: 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User asks a weather question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AI interprets the question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System generates a database query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Data is retrieved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Chatbot returns a readable response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Alternative flow: 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If query is ambiguous, chatbot asks clarifying questions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If query cannot be answered, chatbot returns an error message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6007755" cy="7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7"/>
              </a:lnSpc>
            </a:pPr>
            <a:r>
              <a:rPr lang="en-US" sz="5070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04. Documentation of UML Diagrams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382528" y="2314024"/>
            <a:ext cx="8003878" cy="5658952"/>
          </a:xfrm>
          <a:custGeom>
            <a:avLst/>
            <a:gdLst/>
            <a:ahLst/>
            <a:cxnLst/>
            <a:rect r="r" b="b" t="t" l="l"/>
            <a:pathLst>
              <a:path h="5658952" w="8003878">
                <a:moveTo>
                  <a:pt x="0" y="0"/>
                </a:moveTo>
                <a:lnTo>
                  <a:pt x="8003877" y="0"/>
                </a:lnTo>
                <a:lnTo>
                  <a:pt x="8003877" y="5658952"/>
                </a:lnTo>
                <a:lnTo>
                  <a:pt x="0" y="56589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1545" y="2314024"/>
            <a:ext cx="8003878" cy="5658952"/>
          </a:xfrm>
          <a:custGeom>
            <a:avLst/>
            <a:gdLst/>
            <a:ahLst/>
            <a:cxnLst/>
            <a:rect r="r" b="b" t="t" l="l"/>
            <a:pathLst>
              <a:path h="5658952" w="8003878">
                <a:moveTo>
                  <a:pt x="0" y="0"/>
                </a:moveTo>
                <a:lnTo>
                  <a:pt x="8003877" y="0"/>
                </a:lnTo>
                <a:lnTo>
                  <a:pt x="8003877" y="5658952"/>
                </a:lnTo>
                <a:lnTo>
                  <a:pt x="0" y="56589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4699157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05. Installation and Evaluation of Existing Solution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082165"/>
            <a:ext cx="15871966" cy="71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Previous Solution &amp; Identified limitations: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 prior version of the system existed but did not meet expectations in terms of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performance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scalability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and overall </a:t>
            </a: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usability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Due to these limitations, the decision was made to rebuild the system from scratch rather than extend the existing codebase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Client Context: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The client currently relies on existing platforms that require more manual or less intuitive interaction with weather data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The new project aims to streamline this process through a more user-friendly and intelligent solution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2877056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06. Kanban Overview &amp; Team Contributions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6279" y="1921335"/>
            <a:ext cx="17595443" cy="6444331"/>
          </a:xfrm>
          <a:custGeom>
            <a:avLst/>
            <a:gdLst/>
            <a:ahLst/>
            <a:cxnLst/>
            <a:rect r="r" b="b" t="t" l="l"/>
            <a:pathLst>
              <a:path h="6444331" w="17595443">
                <a:moveTo>
                  <a:pt x="0" y="0"/>
                </a:moveTo>
                <a:lnTo>
                  <a:pt x="17595442" y="0"/>
                </a:lnTo>
                <a:lnTo>
                  <a:pt x="17595442" y="6444330"/>
                </a:lnTo>
                <a:lnTo>
                  <a:pt x="0" y="6444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7892455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07. Feature Demonstration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3062420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08. Skills Identification and Learning Process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771651"/>
            <a:ext cx="13553940" cy="748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5400"/>
              </a:lnSpc>
              <a:buFont typeface="Arial"/>
              <a:buChar char="•"/>
            </a:pPr>
            <a:r>
              <a:rPr lang="en-US" b="true" sz="3000" spc="-18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Sairaghav Gubba: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Skill sets identified: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Retrieval Augmented Generation (RAG) Techniques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Front End Development with Typescript, React, and HTML/CSS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Python for AI Development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Learning Resources: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Chat With Your Data Course from DeepLearning AI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Typescript, React, HTML/CSS, and Python Documentation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What I Learned: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RAG Pipeline Components from Chat With Your Data</a:t>
            </a:r>
          </a:p>
          <a:p>
            <a:pPr algn="l" marL="1943105" indent="-485776" lvl="3">
              <a:lnSpc>
                <a:spcPts val="5400"/>
              </a:lnSpc>
              <a:spcBef>
                <a:spcPct val="0"/>
              </a:spcBef>
              <a:buFont typeface="Arial"/>
              <a:buChar char="￭"/>
            </a:pPr>
            <a:r>
              <a:rPr lang="en-US" sz="3000" spc="-18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Basics of Typescript and RAG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3062420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08. Skills Identification and Learning Process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783949"/>
            <a:ext cx="13553940" cy="817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5400"/>
              </a:lnSpc>
              <a:buFont typeface="Arial"/>
              <a:buChar char="•"/>
            </a:pPr>
            <a:r>
              <a:rPr lang="en-US" b="true" sz="3000" spc="-18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Zuriel Hernandez: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Skill sets identified: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Retrieval Augmented Generation (RAG) Techniques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React, Python, FastAPI, Typescript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Full Stack Development + Deployment (AWS, Azure, GCP) 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Learning Resources: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FastAPI Documentation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Project Experiences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What I Learned: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Basic RAG Architecture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Team Collaboration and Communication</a:t>
            </a:r>
          </a:p>
          <a:p>
            <a:pPr algn="l">
              <a:lnSpc>
                <a:spcPts val="54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3062420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08. Skills Identification and Learning Process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771651"/>
            <a:ext cx="15247273" cy="7486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5400"/>
              </a:lnSpc>
              <a:buFont typeface="Arial"/>
              <a:buChar char="•"/>
            </a:pPr>
            <a:r>
              <a:rPr lang="en-US" b="true" sz="3000" spc="-180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Danbi Kim: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Skill Sets Identified: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Retrieval-Augmented Generation (RAG) system design and implementation 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Frontend development using TypeScript, React, and Tailwind CSS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Python fundamentals for AI-related development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Learning Resources: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“Chat with Your Data” course from DeepLearning.AI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Official documentation for TypeScript, React, Tailwind CSS, and Python</a:t>
            </a:r>
          </a:p>
          <a:p>
            <a:pPr algn="l" marL="1295403" indent="-431801" lvl="2">
              <a:lnSpc>
                <a:spcPts val="5400"/>
              </a:lnSpc>
              <a:buFont typeface="Arial"/>
              <a:buChar char="⚬"/>
            </a:pPr>
            <a:r>
              <a:rPr lang="en-US" sz="3000" spc="-180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What I Learned:</a:t>
            </a:r>
          </a:p>
          <a:p>
            <a:pPr algn="l" marL="1943105" indent="-485776" lvl="3">
              <a:lnSpc>
                <a:spcPts val="5400"/>
              </a:lnSpc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Core architecture of RAG systems</a:t>
            </a: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 marL="1943105" indent="-485776" lvl="3">
              <a:lnSpc>
                <a:spcPts val="5400"/>
              </a:lnSpc>
              <a:spcBef>
                <a:spcPct val="0"/>
              </a:spcBef>
              <a:buFont typeface="Arial"/>
              <a:buChar char="￭"/>
            </a:pPr>
            <a:r>
              <a:rPr lang="en-US" sz="3000" spc="-18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Refreshed Python basics relevant to AI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3062420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08. Skills Identification and Learning Process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771650"/>
            <a:ext cx="13421928" cy="748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b="true" sz="3000" spc="-179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Gavin Travis:</a:t>
            </a:r>
          </a:p>
          <a:p>
            <a:pPr algn="l" marL="1295400" indent="-431800" lvl="2">
              <a:lnSpc>
                <a:spcPts val="5400"/>
              </a:lnSpc>
              <a:buFont typeface="Arial"/>
              <a:buChar char="⚬"/>
            </a:pPr>
            <a:r>
              <a:rPr lang="en-US" sz="3000" spc="-179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Skill Sets Identified:</a:t>
            </a:r>
          </a:p>
          <a:p>
            <a:pPr algn="l" marL="1943100" indent="-485775" lvl="3">
              <a:lnSpc>
                <a:spcPts val="5400"/>
              </a:lnSpc>
              <a:buFont typeface="Arial"/>
              <a:buChar char="￭"/>
            </a:pPr>
            <a:r>
              <a:rPr lang="en-US" sz="3000" spc="-17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Retrieval Augmented Generation (RAG) Techniques</a:t>
            </a:r>
          </a:p>
          <a:p>
            <a:pPr algn="l" marL="1943100" indent="-485775" lvl="3">
              <a:lnSpc>
                <a:spcPts val="5400"/>
              </a:lnSpc>
              <a:buFont typeface="Arial"/>
              <a:buChar char="￭"/>
            </a:pPr>
            <a:r>
              <a:rPr lang="en-US" sz="3000" spc="-17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Database Management</a:t>
            </a:r>
          </a:p>
          <a:p>
            <a:pPr algn="l" marL="1943100" indent="-485775" lvl="3">
              <a:lnSpc>
                <a:spcPts val="5400"/>
              </a:lnSpc>
              <a:buFont typeface="Arial"/>
              <a:buChar char="￭"/>
            </a:pPr>
            <a:r>
              <a:rPr lang="en-US" sz="3000" spc="-17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Front End Development with Typescript and React</a:t>
            </a:r>
          </a:p>
          <a:p>
            <a:pPr algn="l" marL="1295400" indent="-431800" lvl="2">
              <a:lnSpc>
                <a:spcPts val="5400"/>
              </a:lnSpc>
              <a:buFont typeface="Arial"/>
              <a:buChar char="⚬"/>
            </a:pPr>
            <a:r>
              <a:rPr lang="en-US" sz="3000" spc="-179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Learning Resources:</a:t>
            </a:r>
          </a:p>
          <a:p>
            <a:pPr algn="l" marL="1943100" indent="-485775" lvl="3">
              <a:lnSpc>
                <a:spcPts val="5400"/>
              </a:lnSpc>
              <a:buFont typeface="Arial"/>
              <a:buChar char="￭"/>
            </a:pPr>
            <a:r>
              <a:rPr lang="en-US" sz="3000" spc="-17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Chat With Your Data Course from DeepLearning AI</a:t>
            </a:r>
          </a:p>
          <a:p>
            <a:pPr algn="l" marL="1943100" indent="-485775" lvl="3">
              <a:lnSpc>
                <a:spcPts val="5400"/>
              </a:lnSpc>
              <a:buFont typeface="Arial"/>
              <a:buChar char="￭"/>
            </a:pPr>
            <a:r>
              <a:rPr lang="en-US" sz="3000" spc="-17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Typescript and React Documentation</a:t>
            </a:r>
          </a:p>
          <a:p>
            <a:pPr algn="l" marL="1295400" indent="-431800" lvl="2">
              <a:lnSpc>
                <a:spcPts val="5400"/>
              </a:lnSpc>
              <a:buFont typeface="Arial"/>
              <a:buChar char="⚬"/>
            </a:pPr>
            <a:r>
              <a:rPr lang="en-US" sz="3000" spc="-179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What I Learned:</a:t>
            </a:r>
          </a:p>
          <a:p>
            <a:pPr algn="l" marL="1943100" indent="-485775" lvl="3">
              <a:lnSpc>
                <a:spcPts val="5400"/>
              </a:lnSpc>
              <a:buFont typeface="Arial"/>
              <a:buChar char="￭"/>
            </a:pPr>
            <a:r>
              <a:rPr lang="en-US" sz="3000" spc="-17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RAG Pipeline Components from Chat With Your Data</a:t>
            </a:r>
          </a:p>
          <a:p>
            <a:pPr algn="l" marL="1943100" indent="-485775" lvl="3">
              <a:lnSpc>
                <a:spcPts val="5400"/>
              </a:lnSpc>
              <a:spcBef>
                <a:spcPct val="0"/>
              </a:spcBef>
              <a:buFont typeface="Arial"/>
              <a:buChar char="￭"/>
            </a:pPr>
            <a:r>
              <a:rPr lang="en-US" sz="3000" spc="-179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Basics of Typescript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2015586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09. Sprint Achievements and Challenges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237835"/>
            <a:ext cx="14648719" cy="500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Achievements: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Defined system scope and objectives for the redesign of the AI Chatbot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Completed detailed use case documentation for both user and admin workflows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Evaluated previous implementation and its limitations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Identified tech stack (React, Python, MySQL, AWS, RAG)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Established team workflow using Kanban board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2015586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09. Sprint Achievements and Challenges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237835"/>
            <a:ext cx="14648719" cy="71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Large scope and complexity: 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Many use cases (30+) made it harder to keep everything consistent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Maintaining traceability: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Linking user stories, use cases, and requirements took time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UML diagram clarity: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Balancing readability vs including all system interactions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0B6E69"/>
                </a:solidFill>
                <a:latin typeface="Montserrat"/>
                <a:ea typeface="Montserrat"/>
                <a:cs typeface="Montserrat"/>
                <a:sym typeface="Montserrat"/>
              </a:rPr>
              <a:t>Limited or lack of experience:</a:t>
            </a: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Team members having limited or no prior experience with AI-based systems</a:t>
            </a:r>
          </a:p>
          <a:p>
            <a:pPr algn="l">
              <a:lnSpc>
                <a:spcPts val="5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51545" y="1098644"/>
            <a:ext cx="12015586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10. Responsible Use of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19640" y="3998595"/>
            <a:ext cx="14648719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b="true" sz="3200" i="true" spc="-192">
                <a:solidFill>
                  <a:srgbClr val="545454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Disclosure: </a:t>
            </a:r>
          </a:p>
          <a:p>
            <a:pPr algn="ctr">
              <a:lnSpc>
                <a:spcPts val="5760"/>
              </a:lnSpc>
              <a:spcBef>
                <a:spcPct val="0"/>
              </a:spcBef>
            </a:pPr>
            <a:r>
              <a:rPr lang="en-US" sz="3200" i="true" spc="-192">
                <a:solidFill>
                  <a:srgbClr val="545454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GenAI tools such as ChatGPT were used during this sprint to assist with certain documentation tasks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51545" y="1098644"/>
            <a:ext cx="12015586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10. Responsible Use of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82165"/>
            <a:ext cx="16230600" cy="717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 &amp; Improvements: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AI tools were used to help draft and refine documentation and support brainstorming of system design ideas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This improved efficiency, helped clarify documentation, and reduced time spent on initial drafting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&amp; Checks: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Some AI-generated outputs required refinement or correction, particularly for technical details and system-specific requirements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The team reviewed all AI-assisted content to ensure accuracy, relevance, and alignment with project goals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51545" y="1098644"/>
            <a:ext cx="12015586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10. Responsible Use of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82165"/>
            <a:ext cx="16230600" cy="355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Accountability</a:t>
            </a:r>
            <a:r>
              <a:rPr lang="en-US" b="true" sz="3200" spc="-19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All final documentation, design decisions, and deliverables were reviewed and approved by the team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The team maintains full responsibility for the accuracy and quality of the final project work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1354943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11. Sprint Retrospective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067956"/>
            <a:ext cx="14648719" cy="572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Went Well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Capturing all functional and non-functional requirements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Learning fundamentals of new technology (RAG)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Establishing good communication with client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b="true" sz="3200" spc="-192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Areas to Improve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Improving background knowledge of AI/Large-Language-Models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Deep dive client data</a:t>
            </a:r>
          </a:p>
          <a:p>
            <a:pPr algn="l" marL="1381761" indent="-460587" lvl="2">
              <a:lnSpc>
                <a:spcPts val="5760"/>
              </a:lnSpc>
              <a:spcBef>
                <a:spcPct val="0"/>
              </a:spcBef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Research RAG System Testing Strategies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1545" y="1098644"/>
            <a:ext cx="11354943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11. Next Steps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05707"/>
            <a:ext cx="14648719" cy="500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Determine System Architecture</a:t>
            </a:r>
          </a:p>
          <a:p>
            <a:pPr algn="l" marL="1381761" indent="-460587" lvl="2">
              <a:lnSpc>
                <a:spcPts val="5760"/>
              </a:lnSpc>
              <a:buFont typeface="Arial"/>
              <a:buChar char="⚬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RAG Pipeline Components</a:t>
            </a:r>
          </a:p>
          <a:p>
            <a:pPr algn="l" marL="2072642" indent="-518160" lvl="3">
              <a:lnSpc>
                <a:spcPts val="5760"/>
              </a:lnSpc>
              <a:buFont typeface="Arial"/>
              <a:buChar char="￭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Indexing Strategy</a:t>
            </a:r>
          </a:p>
          <a:p>
            <a:pPr algn="l" marL="2072642" indent="-518160" lvl="3">
              <a:lnSpc>
                <a:spcPts val="5760"/>
              </a:lnSpc>
              <a:buFont typeface="Arial"/>
              <a:buChar char="￭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Database Selection</a:t>
            </a:r>
          </a:p>
          <a:p>
            <a:pPr algn="l" marL="2072642" indent="-518160" lvl="3">
              <a:lnSpc>
                <a:spcPts val="5760"/>
              </a:lnSpc>
              <a:buFont typeface="Arial"/>
              <a:buChar char="￭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Data Retrieval Strategy (Balancing Query Speed vs Validation)</a:t>
            </a:r>
          </a:p>
          <a:p>
            <a:pPr algn="l" marL="690881" indent="-345440" lvl="1">
              <a:lnSpc>
                <a:spcPts val="5760"/>
              </a:lnSpc>
              <a:buFont typeface="Arial"/>
              <a:buChar char="•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Prototype RAG Pipeline</a:t>
            </a:r>
          </a:p>
          <a:p>
            <a:pPr algn="l" marL="690881" indent="-345440" lvl="1">
              <a:lnSpc>
                <a:spcPts val="576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Mock Chatbot User Interface with Figma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8746544" y="-391644"/>
            <a:ext cx="9275845" cy="13450749"/>
          </a:xfrm>
          <a:custGeom>
            <a:avLst/>
            <a:gdLst/>
            <a:ahLst/>
            <a:cxnLst/>
            <a:rect r="r" b="b" t="t" l="l"/>
            <a:pathLst>
              <a:path h="13450749" w="9275845">
                <a:moveTo>
                  <a:pt x="0" y="0"/>
                </a:moveTo>
                <a:lnTo>
                  <a:pt x="9275845" y="0"/>
                </a:lnTo>
                <a:lnTo>
                  <a:pt x="9275845" y="13450750"/>
                </a:lnTo>
                <a:lnTo>
                  <a:pt x="0" y="1345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80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251545" y="1098644"/>
            <a:ext cx="12015586" cy="7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0"/>
              </a:lnSpc>
            </a:pPr>
            <a:r>
              <a:rPr lang="en-US" sz="5072" spc="-446" b="true">
                <a:solidFill>
                  <a:srgbClr val="0B6E6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12.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19640" y="3998595"/>
            <a:ext cx="14648719" cy="210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  <a:spcBef>
                <a:spcPct val="0"/>
              </a:spcBef>
            </a:pPr>
            <a:r>
              <a:rPr lang="en-US" sz="3200" spc="-192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Sprint 1 successfully established the foundation of our AI chatbot system. With clear system requirements and design in place, we are ready to begin development in Sprint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DAHEJwq1gqs</dc:identifier>
  <dcterms:modified xsi:type="dcterms:W3CDTF">2011-08-01T06:04:30Z</dcterms:modified>
  <cp:revision>1</cp:revision>
  <dc:title>Cpts421_Sprint1</dc:title>
</cp:coreProperties>
</file>