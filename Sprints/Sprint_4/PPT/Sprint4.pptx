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Montserrat Black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WgZWg8wr/djN9xMOzisJyslcJ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Black-boldItalic.fntdata"/><Relationship Id="rId25" Type="http://schemas.openxmlformats.org/officeDocument/2006/relationships/font" Target="fonts/MontserratBlack-bold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Danbi</a:t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Danbi</a:t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Danbi</a:t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6df4f082ce4e65b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Danbi</a:t>
            </a:r>
            <a:endParaRPr/>
          </a:p>
        </p:txBody>
      </p:sp>
      <p:sp>
        <p:nvSpPr>
          <p:cNvPr id="142" name="Google Shape;142;h6df4f082ce4e65b6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Gavin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Gavin</a:t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Sai</a:t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Sai</a:t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4af65db90ae80e8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Sai</a:t>
            </a:r>
            <a:endParaRPr/>
          </a:p>
        </p:txBody>
      </p:sp>
      <p:sp>
        <p:nvSpPr>
          <p:cNvPr id="182" name="Google Shape;182;h4af65db90ae80e84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4af65db90ae80e84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Zuriel</a:t>
            </a:r>
            <a:endParaRPr/>
          </a:p>
        </p:txBody>
      </p:sp>
      <p:sp>
        <p:nvSpPr>
          <p:cNvPr id="190" name="Google Shape;190;h4af65db90ae80e84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69cf4baedb06c23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Gavin</a:t>
            </a:r>
            <a:endParaRPr/>
          </a:p>
        </p:txBody>
      </p:sp>
      <p:sp>
        <p:nvSpPr>
          <p:cNvPr id="198" name="Google Shape;198;h69cf4baedb06c23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4af65db90ae80e8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Danbi</a:t>
            </a:r>
            <a:endParaRPr/>
          </a:p>
        </p:txBody>
      </p:sp>
      <p:sp>
        <p:nvSpPr>
          <p:cNvPr id="206" name="Google Shape;206;h4af65db90ae80e8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Zuriel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Zuriel</a:t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 rot="-9686911">
            <a:off x="-1667717" y="-2179793"/>
            <a:ext cx="7386066" cy="8229600"/>
          </a:xfrm>
          <a:custGeom>
            <a:rect b="b" l="l" r="r" t="t"/>
            <a:pathLst>
              <a:path extrusionOk="0" h="8229600" w="7386066">
                <a:moveTo>
                  <a:pt x="0" y="0"/>
                </a:moveTo>
                <a:lnTo>
                  <a:pt x="7386066" y="0"/>
                </a:lnTo>
                <a:lnTo>
                  <a:pt x="73860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-10734438">
            <a:off x="11741809" y="4987273"/>
            <a:ext cx="7962138" cy="8229600"/>
          </a:xfrm>
          <a:custGeom>
            <a:rect b="b" l="l" r="r" t="t"/>
            <a:pathLst>
              <a:path extrusionOk="0" h="8229600" w="7962138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4282029" y="4011895"/>
            <a:ext cx="9723900" cy="22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99"/>
              <a:buFont typeface="Arial"/>
              <a:buNone/>
            </a:pPr>
            <a:r>
              <a:rPr b="1" i="0" lang="en-US" sz="7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AgWeatherNet AI Chatbot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338872" y="7852333"/>
            <a:ext cx="5610257" cy="360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Presented by Team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750265" y="7496733"/>
            <a:ext cx="2787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Cpts 42</a:t>
            </a:r>
            <a:r>
              <a:rPr b="1" lang="en-US" sz="2499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2499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7261219" y="6767013"/>
            <a:ext cx="3765563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1"/>
          <p:cNvCxnSpPr/>
          <p:nvPr/>
        </p:nvCxnSpPr>
        <p:spPr>
          <a:xfrm>
            <a:off x="7261219" y="3367119"/>
            <a:ext cx="3765563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028700" y="3466267"/>
            <a:ext cx="533566" cy="533566"/>
            <a:chOff x="0" y="0"/>
            <a:chExt cx="812800" cy="812800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79"/>
                <a:buFont typeface="Arial"/>
                <a:buNone/>
              </a:pPr>
              <a:r>
                <a:rPr b="0" i="0" lang="en-US" sz="178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1044741" y="4436332"/>
            <a:ext cx="533566" cy="533566"/>
            <a:chOff x="0" y="0"/>
            <a:chExt cx="812800" cy="812800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79"/>
                <a:buFont typeface="Arial"/>
                <a:buNone/>
              </a:pPr>
              <a:r>
                <a:rPr b="0" i="0" lang="en-US" sz="178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044741" y="5407387"/>
            <a:ext cx="533566" cy="533566"/>
            <a:chOff x="0" y="0"/>
            <a:chExt cx="812800" cy="812800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79"/>
                <a:buFont typeface="Arial"/>
                <a:buNone/>
              </a:pPr>
              <a:r>
                <a:rPr b="0" i="0" lang="en-US" sz="178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1028700" y="6384109"/>
            <a:ext cx="533566" cy="533566"/>
            <a:chOff x="0" y="0"/>
            <a:chExt cx="812800" cy="812800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79"/>
                <a:buFont typeface="Arial"/>
                <a:buNone/>
              </a:pPr>
              <a:r>
                <a:rPr b="0" i="0" lang="en-US" sz="178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11750813" y="3913427"/>
            <a:ext cx="7962138" cy="8229600"/>
          </a:xfrm>
          <a:custGeom>
            <a:rect b="b" l="l" r="r" t="t"/>
            <a:pathLst>
              <a:path extrusionOk="0" h="8229600" w="7962138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1028700" y="1171575"/>
            <a:ext cx="5038022" cy="1560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6"/>
              <a:buFont typeface="Arial"/>
              <a:buNone/>
            </a:pPr>
            <a:r>
              <a:rPr b="1" i="0" lang="en-US" sz="6246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TABLE OF CONTENTS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"/>
          <p:cNvCxnSpPr/>
          <p:nvPr/>
        </p:nvCxnSpPr>
        <p:spPr>
          <a:xfrm>
            <a:off x="5897880" y="1504332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2"/>
          <p:cNvSpPr txBox="1"/>
          <p:nvPr/>
        </p:nvSpPr>
        <p:spPr>
          <a:xfrm>
            <a:off x="1812927" y="3553801"/>
            <a:ext cx="353913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812927" y="4483219"/>
            <a:ext cx="6126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Sprint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820868" y="5334069"/>
            <a:ext cx="7067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2"/>
          <p:cNvGrpSpPr/>
          <p:nvPr/>
        </p:nvGrpSpPr>
        <p:grpSpPr>
          <a:xfrm>
            <a:off x="8521109" y="3442984"/>
            <a:ext cx="533566" cy="533566"/>
            <a:chOff x="0" y="0"/>
            <a:chExt cx="812800" cy="8128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79"/>
                <a:buFont typeface="Arial"/>
                <a:buNone/>
              </a:pPr>
              <a:r>
                <a:rPr lang="en-US" sz="178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8537149" y="4413049"/>
            <a:ext cx="533566" cy="533566"/>
            <a:chOff x="0" y="0"/>
            <a:chExt cx="812800" cy="812800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79"/>
                <a:buFont typeface="Arial"/>
                <a:buNone/>
              </a:pPr>
              <a:r>
                <a:rPr lang="en-US" sz="178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8537149" y="5384104"/>
            <a:ext cx="533566" cy="533566"/>
            <a:chOff x="0" y="0"/>
            <a:chExt cx="812800" cy="812800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79"/>
                <a:buFont typeface="Arial"/>
                <a:buNone/>
              </a:pPr>
              <a:r>
                <a:rPr lang="en-US" sz="178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8521109" y="6360826"/>
            <a:ext cx="533566" cy="533566"/>
            <a:chOff x="0" y="0"/>
            <a:chExt cx="812800" cy="812800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79"/>
                <a:buFont typeface="Arial"/>
                <a:buNone/>
              </a:pPr>
              <a:r>
                <a:rPr lang="en-US" sz="178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2"/>
          <p:cNvSpPr txBox="1"/>
          <p:nvPr/>
        </p:nvSpPr>
        <p:spPr>
          <a:xfrm>
            <a:off x="1812925" y="6290050"/>
            <a:ext cx="6246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Sprint Achievements and </a:t>
            </a: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Challenges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9321376" y="3452425"/>
            <a:ext cx="4600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Progress from Sprint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9305324" y="4483230"/>
            <a:ext cx="7384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Next Steps and Sprint Retrospective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9321386" y="6317767"/>
            <a:ext cx="62469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812927" y="5432382"/>
            <a:ext cx="6126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Responsible Use of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9305324" y="5400509"/>
            <a:ext cx="7384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Client Feedback Consideration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3"/>
          <p:cNvCxnSpPr/>
          <p:nvPr/>
        </p:nvCxnSpPr>
        <p:spPr>
          <a:xfrm>
            <a:off x="6066722" y="1390650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3"/>
          <p:cNvSpPr/>
          <p:nvPr/>
        </p:nvSpPr>
        <p:spPr>
          <a:xfrm rot="10800000">
            <a:off x="12327796" y="3747436"/>
            <a:ext cx="7962138" cy="8229600"/>
          </a:xfrm>
          <a:custGeom>
            <a:rect b="b" l="l" r="r" t="t"/>
            <a:pathLst>
              <a:path extrusionOk="0" h="8229600" w="7962138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3"/>
          <p:cNvSpPr txBox="1"/>
          <p:nvPr/>
        </p:nvSpPr>
        <p:spPr>
          <a:xfrm>
            <a:off x="1028700" y="1143000"/>
            <a:ext cx="503802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028700" y="2301051"/>
            <a:ext cx="162306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Introduction: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Chatbot for AgWeatherNet Data Access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Focus on usability and accurate data retrieval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 Roles: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Sai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Indexing &amp; Metadata Filtering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Danbi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Testing Infrastructure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Zuriel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Frontend/Backend Wiring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Gavin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to SQL Query Component (NL2SQL)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Sprint 4 Goal: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Complete core features, expand testing, and integrate frontend and backend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df4f082ce4e65b6_0_45"/>
          <p:cNvSpPr txBox="1"/>
          <p:nvPr/>
        </p:nvSpPr>
        <p:spPr>
          <a:xfrm>
            <a:off x="1028700" y="1143000"/>
            <a:ext cx="6321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SPRINT OBJECTIVES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h6df4f082ce4e65b6_0_45"/>
          <p:cNvCxnSpPr/>
          <p:nvPr/>
        </p:nvCxnSpPr>
        <p:spPr>
          <a:xfrm>
            <a:off x="7350256" y="1371600"/>
            <a:ext cx="5208600" cy="19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h6df4f082ce4e65b6_0_45"/>
          <p:cNvSpPr/>
          <p:nvPr/>
        </p:nvSpPr>
        <p:spPr>
          <a:xfrm rot="5400000">
            <a:off x="12710521" y="4721733"/>
            <a:ext cx="7386066" cy="8229600"/>
          </a:xfrm>
          <a:custGeom>
            <a:rect b="b" l="l" r="r" t="t"/>
            <a:pathLst>
              <a:path extrusionOk="0" h="8229600" w="7386066">
                <a:moveTo>
                  <a:pt x="0" y="0"/>
                </a:moveTo>
                <a:lnTo>
                  <a:pt x="7386066" y="0"/>
                </a:lnTo>
                <a:lnTo>
                  <a:pt x="73860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h6df4f082ce4e65b6_0_45"/>
          <p:cNvSpPr txBox="1"/>
          <p:nvPr/>
        </p:nvSpPr>
        <p:spPr>
          <a:xfrm>
            <a:off x="1028700" y="2056826"/>
            <a:ext cx="162306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Defined Objectives: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Complete at least 80% of features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Integrate front and back end components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Natural Language to SQL (NL2SQL) back end in place of RAG vector search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Catch up on project testing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Goals and Rationale: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Get a functioning product, iterate from there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 prepared for deployment features in sprint 5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Connection to Overall Vision: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Now that we have discussed design with client in previous sprints, it's time to implement!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11709321" y="3636924"/>
            <a:ext cx="7386066" cy="8229600"/>
          </a:xfrm>
          <a:custGeom>
            <a:rect b="b" l="l" r="r" t="t"/>
            <a:pathLst>
              <a:path extrusionOk="0" h="8229600" w="7386066">
                <a:moveTo>
                  <a:pt x="0" y="0"/>
                </a:moveTo>
                <a:lnTo>
                  <a:pt x="7386066" y="0"/>
                </a:lnTo>
                <a:lnTo>
                  <a:pt x="73860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9"/>
          <p:cNvSpPr txBox="1"/>
          <p:nvPr/>
        </p:nvSpPr>
        <p:spPr>
          <a:xfrm>
            <a:off x="1028700" y="1143000"/>
            <a:ext cx="755183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RESPONSIBLE USE OF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9"/>
          <p:cNvCxnSpPr/>
          <p:nvPr/>
        </p:nvCxnSpPr>
        <p:spPr>
          <a:xfrm>
            <a:off x="8580536" y="1371600"/>
            <a:ext cx="3978427" cy="1905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9"/>
          <p:cNvSpPr txBox="1"/>
          <p:nvPr/>
        </p:nvSpPr>
        <p:spPr>
          <a:xfrm>
            <a:off x="1819640" y="3998595"/>
            <a:ext cx="146487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Disclosure: </a:t>
            </a:r>
            <a:endParaRPr b="0" i="0" sz="2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GenAI tools such as </a:t>
            </a:r>
            <a:r>
              <a:rPr i="1" lang="en-US" sz="28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Copilot</a:t>
            </a:r>
            <a:r>
              <a:rPr b="0" i="1" lang="en-US" sz="2800" u="none" cap="none" strike="noStrik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were used during this sprint to assist with </a:t>
            </a:r>
            <a:r>
              <a:rPr i="1" lang="en-US" sz="28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code review</a:t>
            </a:r>
            <a:endParaRPr b="0" i="0" sz="2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 rot="5400000">
            <a:off x="-1323842" y="4136383"/>
            <a:ext cx="7962138" cy="8229600"/>
          </a:xfrm>
          <a:custGeom>
            <a:rect b="b" l="l" r="r" t="t"/>
            <a:pathLst>
              <a:path extrusionOk="0" h="8229600" w="7962138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0"/>
          <p:cNvSpPr txBox="1"/>
          <p:nvPr/>
        </p:nvSpPr>
        <p:spPr>
          <a:xfrm>
            <a:off x="1028700" y="1143000"/>
            <a:ext cx="755183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RESPONSIBLE USE OF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10"/>
          <p:cNvCxnSpPr/>
          <p:nvPr/>
        </p:nvCxnSpPr>
        <p:spPr>
          <a:xfrm>
            <a:off x="8580536" y="1371600"/>
            <a:ext cx="3978427" cy="1905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10"/>
          <p:cNvSpPr txBox="1"/>
          <p:nvPr/>
        </p:nvSpPr>
        <p:spPr>
          <a:xfrm>
            <a:off x="1028700" y="1931950"/>
            <a:ext cx="16230600" cy="7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Application &amp; Improvements: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tools were used to help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code review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code reviews offer a quick &amp; detailed screening of new code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 not replace human review, but helps catch small things that may slip through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Limitations &amp; Checks: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Nearly all</a:t>
            </a: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AI-generated outputs require refinement or correction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team reviewed all AI-assisted content to ensure accuracy, relevance, and alignment with project goals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Accountability: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final documentation, design decisions, and deliverables were reviewed and approved by the team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team maintains full responsibility for the accuracy and quality of the final work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>
            <a:off x="12448670" y="1748165"/>
            <a:ext cx="7764315" cy="8651047"/>
          </a:xfrm>
          <a:custGeom>
            <a:rect b="b" l="l" r="r" t="t"/>
            <a:pathLst>
              <a:path extrusionOk="0" h="8651047" w="7764315">
                <a:moveTo>
                  <a:pt x="0" y="0"/>
                </a:moveTo>
                <a:lnTo>
                  <a:pt x="7764315" y="0"/>
                </a:lnTo>
                <a:lnTo>
                  <a:pt x="7764315" y="8651048"/>
                </a:lnTo>
                <a:lnTo>
                  <a:pt x="0" y="8651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1"/>
          <p:cNvSpPr txBox="1"/>
          <p:nvPr/>
        </p:nvSpPr>
        <p:spPr>
          <a:xfrm>
            <a:off x="1028700" y="1143000"/>
            <a:ext cx="77931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SPRINT </a:t>
            </a:r>
            <a:r>
              <a:rPr b="1" lang="en-US" sz="4500"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ACHIEVEMENTS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11"/>
          <p:cNvCxnSpPr/>
          <p:nvPr/>
        </p:nvCxnSpPr>
        <p:spPr>
          <a:xfrm>
            <a:off x="8821751" y="1371600"/>
            <a:ext cx="3737211" cy="1905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1"/>
          <p:cNvSpPr txBox="1"/>
          <p:nvPr/>
        </p:nvSpPr>
        <p:spPr>
          <a:xfrm>
            <a:off x="1028700" y="2467425"/>
            <a:ext cx="162306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Achievements: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Complete end to end functionality, all components integrated!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3 indexes are able to be searched together, with metadata filtering by station or county across those indexes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Expanded test coverage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validating functions with real values and client sample questions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Successfully developed a proof-of-concept NL2SQL component using LangGraph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Detailed </a:t>
            </a:r>
            <a:r>
              <a:rPr i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 implementations are covered later in the presentation!</a:t>
            </a:r>
            <a:endParaRPr i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12448670" y="1748165"/>
            <a:ext cx="7764315" cy="8651047"/>
          </a:xfrm>
          <a:custGeom>
            <a:rect b="b" l="l" r="r" t="t"/>
            <a:pathLst>
              <a:path extrusionOk="0" h="8651047" w="7764315">
                <a:moveTo>
                  <a:pt x="0" y="0"/>
                </a:moveTo>
                <a:lnTo>
                  <a:pt x="7764315" y="0"/>
                </a:lnTo>
                <a:lnTo>
                  <a:pt x="7764315" y="8651048"/>
                </a:lnTo>
                <a:lnTo>
                  <a:pt x="0" y="8651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2"/>
          <p:cNvSpPr txBox="1"/>
          <p:nvPr/>
        </p:nvSpPr>
        <p:spPr>
          <a:xfrm>
            <a:off x="1028700" y="1143000"/>
            <a:ext cx="7140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SPRINT </a:t>
            </a:r>
            <a:r>
              <a:rPr b="1" lang="en-US" sz="4500"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CHALLENGES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12"/>
          <p:cNvCxnSpPr/>
          <p:nvPr/>
        </p:nvCxnSpPr>
        <p:spPr>
          <a:xfrm>
            <a:off x="8169051" y="1371600"/>
            <a:ext cx="4389911" cy="1905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2"/>
          <p:cNvSpPr txBox="1"/>
          <p:nvPr/>
        </p:nvSpPr>
        <p:spPr>
          <a:xfrm>
            <a:off x="1028700" y="2544465"/>
            <a:ext cx="162306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Challenges and Solutions: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Increasing complexity of features, big PR diffs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Scope kanban items smaller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Some interfaces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did not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match up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Communicate early on design, not at PR time!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Progress from Sprint </a:t>
            </a: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Full end to end functionality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Comprehensive testing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Redesigned front end with extra polish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4af65db90ae80e84_1_7"/>
          <p:cNvSpPr txBox="1"/>
          <p:nvPr/>
        </p:nvSpPr>
        <p:spPr>
          <a:xfrm>
            <a:off x="1028700" y="1143000"/>
            <a:ext cx="8685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latin typeface="Montserrat"/>
                <a:ea typeface="Montserrat"/>
                <a:cs typeface="Montserrat"/>
                <a:sym typeface="Montserrat"/>
              </a:rPr>
              <a:t>FEATURE 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h4af65db90ae80e84_1_7"/>
          <p:cNvCxnSpPr>
            <a:stCxn id="184" idx="3"/>
          </p:cNvCxnSpPr>
          <p:nvPr/>
        </p:nvCxnSpPr>
        <p:spPr>
          <a:xfrm>
            <a:off x="9714300" y="1471950"/>
            <a:ext cx="255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h4af65db90ae80e84_1_7"/>
          <p:cNvSpPr/>
          <p:nvPr/>
        </p:nvSpPr>
        <p:spPr>
          <a:xfrm rot="5400000">
            <a:off x="12710521" y="4721733"/>
            <a:ext cx="7386066" cy="8229600"/>
          </a:xfrm>
          <a:custGeom>
            <a:rect b="b" l="l" r="r" t="t"/>
            <a:pathLst>
              <a:path extrusionOk="0" h="8229600" w="7386066">
                <a:moveTo>
                  <a:pt x="0" y="0"/>
                </a:moveTo>
                <a:lnTo>
                  <a:pt x="7386066" y="0"/>
                </a:lnTo>
                <a:lnTo>
                  <a:pt x="73860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h4af65db90ae80e84_1_7"/>
          <p:cNvSpPr txBox="1"/>
          <p:nvPr/>
        </p:nvSpPr>
        <p:spPr>
          <a:xfrm>
            <a:off x="1028700" y="2472525"/>
            <a:ext cx="15824100" cy="7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Combining Indexes: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 and API now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all 3 indexes together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Results are combined into a single chatbot context and labeled by historical, current, and forecast data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Metadata Filtering: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Added filtering by station or county across all 3 indexes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Filters are automatically detected from queries or passed directly through the API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Testing: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Added unit tests for multi-index search, context labeling, empty results, and metadata filtering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4af65db90ae80e84_1_14"/>
          <p:cNvSpPr/>
          <p:nvPr/>
        </p:nvSpPr>
        <p:spPr>
          <a:xfrm rot="5400000">
            <a:off x="14560456" y="4538781"/>
            <a:ext cx="7962138" cy="8229600"/>
          </a:xfrm>
          <a:custGeom>
            <a:rect b="b" l="l" r="r" t="t"/>
            <a:pathLst>
              <a:path extrusionOk="0" h="8229600" w="7962138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h4af65db90ae80e84_1_14"/>
          <p:cNvSpPr txBox="1"/>
          <p:nvPr/>
        </p:nvSpPr>
        <p:spPr>
          <a:xfrm>
            <a:off x="1028700" y="2123001"/>
            <a:ext cx="162306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Chat Interface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Redesigned the AgWeatherNet workspace with WSU branding, suggested weather questions, clearer messages, and desktop/mobile layouts.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Chat reliability: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Added input validation, readable service errors, provider rate-limit handling, and clear responses when no weather records match. Prevented cancelled or outdated responses from updating a cleared conversation.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Location and date matching: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Added map selection, nearby source resolution, validated interpretation of weather questions, and source/date filtering before ranking results. Preserved observation and forecast dates and displayed supporting records.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h4af65db90ae80e84_1_14"/>
          <p:cNvSpPr txBox="1"/>
          <p:nvPr/>
        </p:nvSpPr>
        <p:spPr>
          <a:xfrm>
            <a:off x="1028700" y="1143000"/>
            <a:ext cx="8685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latin typeface="Montserrat"/>
                <a:ea typeface="Montserrat"/>
                <a:cs typeface="Montserrat"/>
                <a:sym typeface="Montserrat"/>
              </a:rPr>
              <a:t>FEATURE 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h4af65db90ae80e84_1_14"/>
          <p:cNvCxnSpPr>
            <a:stCxn id="194" idx="3"/>
          </p:cNvCxnSpPr>
          <p:nvPr/>
        </p:nvCxnSpPr>
        <p:spPr>
          <a:xfrm>
            <a:off x="9714300" y="1471950"/>
            <a:ext cx="255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69cf4baedb06c231_1_0"/>
          <p:cNvSpPr/>
          <p:nvPr/>
        </p:nvSpPr>
        <p:spPr>
          <a:xfrm rot="5400000">
            <a:off x="-1323842" y="4136383"/>
            <a:ext cx="7962138" cy="8229600"/>
          </a:xfrm>
          <a:custGeom>
            <a:rect b="b" l="l" r="r" t="t"/>
            <a:pathLst>
              <a:path extrusionOk="0" h="8229600" w="7962138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h69cf4baedb06c231_1_0"/>
          <p:cNvSpPr txBox="1"/>
          <p:nvPr/>
        </p:nvSpPr>
        <p:spPr>
          <a:xfrm>
            <a:off x="1028700" y="2123001"/>
            <a:ext cx="16230600" cy="7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to SQL Component using LangGraph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</a:t>
            </a: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oof of concept: Can we accomplish the goal without introducing Vector DB?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Driven by feedback from client at the end of sprint 3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Implement simple version to validate that it will work, polish it up later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Langgraph System: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Program modeled as a graph where each node handles a task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Offers simple API for front end that returns string answer, just provide: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question as a string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minimal location info - Coordinates and county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Utilized client sample questions to evaluate chatbot responses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Added logging so that we can see internal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thought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process of the system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h69cf4baedb06c231_1_0"/>
          <p:cNvSpPr txBox="1"/>
          <p:nvPr/>
        </p:nvSpPr>
        <p:spPr>
          <a:xfrm>
            <a:off x="1028700" y="1143000"/>
            <a:ext cx="8685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latin typeface="Montserrat"/>
                <a:ea typeface="Montserrat"/>
                <a:cs typeface="Montserrat"/>
                <a:sym typeface="Montserrat"/>
              </a:rPr>
              <a:t>FEATURE 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h69cf4baedb06c231_1_0"/>
          <p:cNvCxnSpPr>
            <a:stCxn id="202" idx="3"/>
          </p:cNvCxnSpPr>
          <p:nvPr/>
        </p:nvCxnSpPr>
        <p:spPr>
          <a:xfrm>
            <a:off x="9714300" y="1471950"/>
            <a:ext cx="255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4af65db90ae80e84_1_0"/>
          <p:cNvSpPr/>
          <p:nvPr/>
        </p:nvSpPr>
        <p:spPr>
          <a:xfrm rot="5400000">
            <a:off x="14560456" y="4538781"/>
            <a:ext cx="7962138" cy="8229600"/>
          </a:xfrm>
          <a:custGeom>
            <a:rect b="b" l="l" r="r" t="t"/>
            <a:pathLst>
              <a:path extrusionOk="0" h="8229600" w="7962138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h4af65db90ae80e84_1_0"/>
          <p:cNvSpPr txBox="1"/>
          <p:nvPr/>
        </p:nvSpPr>
        <p:spPr>
          <a:xfrm>
            <a:off x="1028700" y="2123001"/>
            <a:ext cx="16230600" cy="8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Testing Infrastructure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Unit Tests: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Sample Question Test Suite with repeatable unit tests for chatbot response quality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Validated API layer logic and RAG pipeline behavior using fake retrievers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E2E Tests: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Sent real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questions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the live API with Docker running to verify end-to-end chatbot responses against actual AWN weather data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Added out-of-scope question refusal tests to ensure chatbot never answers questions outside of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AWN database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Accuracy Tests: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Compared numeric values in chatbot responses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directly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against pgvector database records to detect hallucinations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h4af65db90ae80e84_1_0"/>
          <p:cNvSpPr txBox="1"/>
          <p:nvPr/>
        </p:nvSpPr>
        <p:spPr>
          <a:xfrm>
            <a:off x="1028700" y="1143000"/>
            <a:ext cx="8685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latin typeface="Montserrat"/>
                <a:ea typeface="Montserrat"/>
                <a:cs typeface="Montserrat"/>
                <a:sym typeface="Montserrat"/>
              </a:rPr>
              <a:t>FEATURE 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h4af65db90ae80e84_1_0"/>
          <p:cNvCxnSpPr>
            <a:stCxn id="210" idx="3"/>
          </p:cNvCxnSpPr>
          <p:nvPr/>
        </p:nvCxnSpPr>
        <p:spPr>
          <a:xfrm>
            <a:off x="9714300" y="1471950"/>
            <a:ext cx="255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/>
          <p:nvPr/>
        </p:nvSpPr>
        <p:spPr>
          <a:xfrm rot="5400000">
            <a:off x="12710521" y="4721733"/>
            <a:ext cx="7386066" cy="8229600"/>
          </a:xfrm>
          <a:custGeom>
            <a:rect b="b" l="l" r="r" t="t"/>
            <a:pathLst>
              <a:path extrusionOk="0" h="8229600" w="7386066">
                <a:moveTo>
                  <a:pt x="0" y="0"/>
                </a:moveTo>
                <a:lnTo>
                  <a:pt x="7386066" y="0"/>
                </a:lnTo>
                <a:lnTo>
                  <a:pt x="73860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3"/>
          <p:cNvSpPr txBox="1"/>
          <p:nvPr/>
        </p:nvSpPr>
        <p:spPr>
          <a:xfrm>
            <a:off x="1028700" y="1143000"/>
            <a:ext cx="380590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3"/>
          <p:cNvCxnSpPr/>
          <p:nvPr/>
        </p:nvCxnSpPr>
        <p:spPr>
          <a:xfrm>
            <a:off x="4834609" y="1371600"/>
            <a:ext cx="7724354" cy="1905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3"/>
          <p:cNvSpPr txBox="1"/>
          <p:nvPr/>
        </p:nvSpPr>
        <p:spPr>
          <a:xfrm>
            <a:off x="1028700" y="1840675"/>
            <a:ext cx="16230600" cy="8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Upcoming Tasks: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Prepare for Deployment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 with AWN system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Build on existing features, make them better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Support complex queries, performance improvements, create CI Pipeline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Sprint Retrospective: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plans from previous semesters have paid off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Good tests help validate new features saving time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 Feedback Consideration: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○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 feedback drove much of the work this sprint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Pivot to NL2SQL component away from vector search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■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Increase thoroughness of testing - make it the priority!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14"/>
          <p:cNvCxnSpPr/>
          <p:nvPr/>
        </p:nvCxnSpPr>
        <p:spPr>
          <a:xfrm>
            <a:off x="5286321" y="1390650"/>
            <a:ext cx="7272642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4"/>
          <p:cNvSpPr/>
          <p:nvPr/>
        </p:nvSpPr>
        <p:spPr>
          <a:xfrm rot="10800000">
            <a:off x="12327796" y="3747436"/>
            <a:ext cx="7962138" cy="8229600"/>
          </a:xfrm>
          <a:custGeom>
            <a:rect b="b" l="l" r="r" t="t"/>
            <a:pathLst>
              <a:path extrusionOk="0" h="8229600" w="7962138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4"/>
          <p:cNvSpPr txBox="1"/>
          <p:nvPr/>
        </p:nvSpPr>
        <p:spPr>
          <a:xfrm>
            <a:off x="1028700" y="1143000"/>
            <a:ext cx="425762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1028700" y="2630929"/>
            <a:ext cx="162306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i="0" lang="en-US" sz="2800" u="none" cap="none" strike="noStrike">
                <a:latin typeface="Montserrat"/>
                <a:ea typeface="Montserrat"/>
                <a:cs typeface="Montserrat"/>
                <a:sym typeface="Montserrat"/>
              </a:rPr>
              <a:t>Summary:</a:t>
            </a:r>
            <a:endParaRPr b="1" i="0" sz="2800" u="none" cap="none" strike="noStrike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Client feedback helped </a:t>
            </a: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guide</a:t>
            </a: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 key </a:t>
            </a: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design</a:t>
            </a: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 decisions and priorities throughout the sprint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Testing became a stronger focus for next sprint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Complete remaining features, </a:t>
            </a: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further</a:t>
            </a: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 improve existing functionality, and prepare for deployment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 rot="-9686911">
            <a:off x="-1667717" y="-2179793"/>
            <a:ext cx="7386066" cy="8229600"/>
          </a:xfrm>
          <a:custGeom>
            <a:rect b="b" l="l" r="r" t="t"/>
            <a:pathLst>
              <a:path extrusionOk="0" h="8229600" w="7386066">
                <a:moveTo>
                  <a:pt x="0" y="0"/>
                </a:moveTo>
                <a:lnTo>
                  <a:pt x="7386066" y="0"/>
                </a:lnTo>
                <a:lnTo>
                  <a:pt x="73860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5"/>
          <p:cNvSpPr/>
          <p:nvPr/>
        </p:nvSpPr>
        <p:spPr>
          <a:xfrm rot="-10734438">
            <a:off x="11741809" y="4987273"/>
            <a:ext cx="7962138" cy="8229600"/>
          </a:xfrm>
          <a:custGeom>
            <a:rect b="b" l="l" r="r" t="t"/>
            <a:pathLst>
              <a:path extrusionOk="0" h="8229600" w="7962138">
                <a:moveTo>
                  <a:pt x="0" y="0"/>
                </a:moveTo>
                <a:lnTo>
                  <a:pt x="7962138" y="0"/>
                </a:lnTo>
                <a:lnTo>
                  <a:pt x="7962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5"/>
          <p:cNvSpPr txBox="1"/>
          <p:nvPr/>
        </p:nvSpPr>
        <p:spPr>
          <a:xfrm>
            <a:off x="4282029" y="4534278"/>
            <a:ext cx="9723941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en-US" sz="6500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5"/>
          <p:cNvCxnSpPr/>
          <p:nvPr/>
        </p:nvCxnSpPr>
        <p:spPr>
          <a:xfrm>
            <a:off x="7261219" y="4071187"/>
            <a:ext cx="3765563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15"/>
          <p:cNvCxnSpPr/>
          <p:nvPr/>
        </p:nvCxnSpPr>
        <p:spPr>
          <a:xfrm>
            <a:off x="7261219" y="5756653"/>
            <a:ext cx="3765563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